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ubik Medium"/>
      <p:regular r:id="rId22"/>
      <p:bold r:id="rId23"/>
      <p:italic r:id="rId24"/>
      <p:boldItalic r:id="rId25"/>
    </p:embeddedFont>
    <p:embeddedFont>
      <p:font typeface="Rubik Light"/>
      <p:regular r:id="rId26"/>
      <p:bold r:id="rId27"/>
      <p:italic r:id="rId28"/>
      <p:boldItalic r:id="rId29"/>
    </p:embeddedFont>
    <p:embeddedFont>
      <p:font typeface="Rubik"/>
      <p:regular r:id="rId30"/>
      <p:bold r:id="rId31"/>
      <p:italic r:id="rId32"/>
      <p:boldItalic r:id="rId33"/>
    </p:embeddedFont>
    <p:embeddedFont>
      <p:font typeface="Rubik SemiBold"/>
      <p:regular r:id="rId34"/>
      <p:bold r:id="rId35"/>
      <p:italic r:id="rId36"/>
      <p:boldItalic r:id="rId37"/>
    </p:embeddedFont>
    <p:embeddedFont>
      <p:font typeface="Roboto Mono"/>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2" roundtripDataSignature="AMtx7mhrYUly8DBjEgiOJ/yQQRS5cxCe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italic.fntdata"/><Relationship Id="rId20" Type="http://schemas.openxmlformats.org/officeDocument/2006/relationships/slide" Target="slides/slide15.xml"/><Relationship Id="rId42" Type="http://customschemas.google.com/relationships/presentationmetadata" Target="metadata"/><Relationship Id="rId41" Type="http://schemas.openxmlformats.org/officeDocument/2006/relationships/font" Target="fonts/RobotoMono-boldItalic.fntdata"/><Relationship Id="rId22" Type="http://schemas.openxmlformats.org/officeDocument/2006/relationships/font" Target="fonts/RubikMedium-regular.fntdata"/><Relationship Id="rId21" Type="http://schemas.openxmlformats.org/officeDocument/2006/relationships/slide" Target="slides/slide16.xml"/><Relationship Id="rId24" Type="http://schemas.openxmlformats.org/officeDocument/2006/relationships/font" Target="fonts/RubikMedium-italic.fntdata"/><Relationship Id="rId23" Type="http://schemas.openxmlformats.org/officeDocument/2006/relationships/font" Target="fonts/RubikMedium-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ubikLight-regular.fntdata"/><Relationship Id="rId25" Type="http://schemas.openxmlformats.org/officeDocument/2006/relationships/font" Target="fonts/RubikMedium-boldItalic.fntdata"/><Relationship Id="rId28" Type="http://schemas.openxmlformats.org/officeDocument/2006/relationships/font" Target="fonts/RubikLight-italic.fntdata"/><Relationship Id="rId27" Type="http://schemas.openxmlformats.org/officeDocument/2006/relationships/font" Target="fonts/RubikLight-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ubikLight-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ubik-bold.fntdata"/><Relationship Id="rId30" Type="http://schemas.openxmlformats.org/officeDocument/2006/relationships/font" Target="fonts/Rubik-regular.fntdata"/><Relationship Id="rId11" Type="http://schemas.openxmlformats.org/officeDocument/2006/relationships/slide" Target="slides/slide6.xml"/><Relationship Id="rId33" Type="http://schemas.openxmlformats.org/officeDocument/2006/relationships/font" Target="fonts/Rubik-boldItalic.fntdata"/><Relationship Id="rId10" Type="http://schemas.openxmlformats.org/officeDocument/2006/relationships/slide" Target="slides/slide5.xml"/><Relationship Id="rId32" Type="http://schemas.openxmlformats.org/officeDocument/2006/relationships/font" Target="fonts/Rubik-italic.fntdata"/><Relationship Id="rId13" Type="http://schemas.openxmlformats.org/officeDocument/2006/relationships/slide" Target="slides/slide8.xml"/><Relationship Id="rId35" Type="http://schemas.openxmlformats.org/officeDocument/2006/relationships/font" Target="fonts/RubikSemiBold-bold.fntdata"/><Relationship Id="rId12" Type="http://schemas.openxmlformats.org/officeDocument/2006/relationships/slide" Target="slides/slide7.xml"/><Relationship Id="rId34" Type="http://schemas.openxmlformats.org/officeDocument/2006/relationships/font" Target="fonts/RubikSemiBold-regular.fntdata"/><Relationship Id="rId15" Type="http://schemas.openxmlformats.org/officeDocument/2006/relationships/slide" Target="slides/slide10.xml"/><Relationship Id="rId37" Type="http://schemas.openxmlformats.org/officeDocument/2006/relationships/font" Target="fonts/RubikSemiBold-boldItalic.fntdata"/><Relationship Id="rId14" Type="http://schemas.openxmlformats.org/officeDocument/2006/relationships/slide" Target="slides/slide9.xml"/><Relationship Id="rId36" Type="http://schemas.openxmlformats.org/officeDocument/2006/relationships/font" Target="fonts/RubikSemiBold-italic.fntdata"/><Relationship Id="rId17" Type="http://schemas.openxmlformats.org/officeDocument/2006/relationships/slide" Target="slides/slide12.xml"/><Relationship Id="rId39" Type="http://schemas.openxmlformats.org/officeDocument/2006/relationships/font" Target="fonts/RobotoMono-bold.fntdata"/><Relationship Id="rId16" Type="http://schemas.openxmlformats.org/officeDocument/2006/relationships/slide" Target="slides/slide11.xml"/><Relationship Id="rId38" Type="http://schemas.openxmlformats.org/officeDocument/2006/relationships/font" Target="fonts/RobotoMono-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65ee868302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g265ee868302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65ee868302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g265ee868302_0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aa5069c7b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g3aa5069c7bc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aa5069c7b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3aa5069c7bc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aa9153eee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g3aa9153eee5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a9153eee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g3aa9153eee5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3ec2985a68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g23ec2985a68_1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3ec2985a68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g23ec2985a68_1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3ec2985a68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g23ec2985a68_1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aa9153eee5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g3aa9153eee5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aa9153eee5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g3aa9153eee5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3ec2985a68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g23ec2985a68_1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 name="Google Shape;13;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4" name="Google Shape;14;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7" name="Google Shape;17;p1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 name="Google Shape;18;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1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1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1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1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1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1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1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1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1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2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2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2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hyperlink" Target="https://drive.google.com/drive/u/0/folders/192uhbuzoswXBUz4E62URkb0uPffHLK7Z" TargetMode="External"/><Relationship Id="rId6" Type="http://schemas.openxmlformats.org/officeDocument/2006/relationships/hyperlink" Target="https://drive.google.com/drive/folders/1fuZ_3oXLx9dlqzBGrD4Wn8dCUR_k1j9c?usp=drive_link" TargetMode="External"/><Relationship Id="rId7" Type="http://schemas.openxmlformats.org/officeDocument/2006/relationships/hyperlink" Target="https://drive.google.com/drive/folders/1sJyWJEAD4OaBzcPSKnOKJY4nYx6yXews?usp=drive_link"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hyperlink" Target="https://youtu.be/nDFKPp3C2Jg?si=3C8_LFn1Ge8uNsAr"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20.png"/><Relationship Id="rId6"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hyperlink" Target="https://github.com/Junazidomi/Data-Analisis-Project/tree/main/Kimia%20Farma%20Analysi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22.jpg"/><Relationship Id="rId6" Type="http://schemas.openxmlformats.org/officeDocument/2006/relationships/hyperlink" Target="https://lookerstudio.google.com/u/0/reporting/bd02e1a0-5c1b-45e9-9498-851ce3671c6a/page/2HYgF"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9FAB"/>
        </a:solidFill>
      </p:bgPr>
    </p:bg>
    <p:spTree>
      <p:nvGrpSpPr>
        <p:cNvPr id="53" name="Shape 53"/>
        <p:cNvGrpSpPr/>
        <p:nvPr/>
      </p:nvGrpSpPr>
      <p:grpSpPr>
        <a:xfrm>
          <a:off x="0" y="0"/>
          <a:ext cx="0" cy="0"/>
          <a:chOff x="0" y="0"/>
          <a:chExt cx="0" cy="0"/>
        </a:xfrm>
      </p:grpSpPr>
      <p:pic>
        <p:nvPicPr>
          <p:cNvPr id="54" name="Google Shape;54;p1"/>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55" name="Google Shape;55;p1"/>
          <p:cNvPicPr preferRelativeResize="0"/>
          <p:nvPr/>
        </p:nvPicPr>
        <p:blipFill rotWithShape="1">
          <a:blip r:embed="rId4">
            <a:alphaModFix/>
          </a:blip>
          <a:srcRect b="0" l="0" r="0" t="0"/>
          <a:stretch/>
        </p:blipFill>
        <p:spPr>
          <a:xfrm>
            <a:off x="349800" y="186500"/>
            <a:ext cx="1399901" cy="541300"/>
          </a:xfrm>
          <a:prstGeom prst="rect">
            <a:avLst/>
          </a:prstGeom>
          <a:noFill/>
          <a:ln>
            <a:noFill/>
          </a:ln>
        </p:spPr>
      </p:pic>
      <p:sp>
        <p:nvSpPr>
          <p:cNvPr id="56" name="Google Shape;56;p1"/>
          <p:cNvSpPr txBox="1"/>
          <p:nvPr/>
        </p:nvSpPr>
        <p:spPr>
          <a:xfrm>
            <a:off x="272450" y="818950"/>
            <a:ext cx="6484500" cy="2108700"/>
          </a:xfrm>
          <a:prstGeom prst="rect">
            <a:avLst/>
          </a:prstGeom>
          <a:noFill/>
          <a:ln>
            <a:noFill/>
          </a:ln>
          <a:effectLst>
            <a:outerShdw blurRad="57150" rotWithShape="0" algn="bl" dir="5400000" dist="19050">
              <a:srgbClr val="000000">
                <a:alpha val="49019"/>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500"/>
              <a:buFont typeface="Arial"/>
              <a:buNone/>
            </a:pPr>
            <a:r>
              <a:rPr b="1" lang="en" sz="4500">
                <a:solidFill>
                  <a:schemeClr val="lt1"/>
                </a:solidFill>
                <a:latin typeface="Rubik"/>
                <a:ea typeface="Rubik"/>
                <a:cs typeface="Rubik"/>
                <a:sym typeface="Rubik"/>
              </a:rPr>
              <a:t>Kimia Farma Business Insights Analyst </a:t>
            </a:r>
            <a:endParaRPr b="1" sz="4500">
              <a:solidFill>
                <a:schemeClr val="lt1"/>
              </a:solidFill>
              <a:latin typeface="Rubik"/>
              <a:ea typeface="Rubik"/>
              <a:cs typeface="Rubik"/>
              <a:sym typeface="Rubik"/>
            </a:endParaRPr>
          </a:p>
          <a:p>
            <a:pPr indent="0" lvl="0" marL="0" marR="0" rtl="0" algn="ctr">
              <a:lnSpc>
                <a:spcPct val="100000"/>
              </a:lnSpc>
              <a:spcBef>
                <a:spcPts val="0"/>
              </a:spcBef>
              <a:spcAft>
                <a:spcPts val="0"/>
              </a:spcAft>
              <a:buClr>
                <a:srgbClr val="000000"/>
              </a:buClr>
              <a:buSzPts val="4500"/>
              <a:buFont typeface="Arial"/>
              <a:buNone/>
            </a:pPr>
            <a:r>
              <a:rPr b="1" lang="en" sz="3500">
                <a:solidFill>
                  <a:schemeClr val="lt1"/>
                </a:solidFill>
                <a:latin typeface="Rubik"/>
                <a:ea typeface="Rubik"/>
                <a:cs typeface="Rubik"/>
                <a:sym typeface="Rubik"/>
              </a:rPr>
              <a:t> 2020-2024</a:t>
            </a:r>
            <a:endParaRPr b="1" sz="3500">
              <a:solidFill>
                <a:schemeClr val="lt1"/>
              </a:solidFill>
              <a:latin typeface="Rubik"/>
              <a:ea typeface="Rubik"/>
              <a:cs typeface="Rubik"/>
              <a:sym typeface="Rubik"/>
            </a:endParaRPr>
          </a:p>
        </p:txBody>
      </p:sp>
      <p:sp>
        <p:nvSpPr>
          <p:cNvPr id="57" name="Google Shape;57;p1"/>
          <p:cNvSpPr txBox="1"/>
          <p:nvPr/>
        </p:nvSpPr>
        <p:spPr>
          <a:xfrm>
            <a:off x="517900" y="3130300"/>
            <a:ext cx="7289100" cy="569400"/>
          </a:xfrm>
          <a:prstGeom prst="rect">
            <a:avLst/>
          </a:prstGeom>
          <a:noFill/>
          <a:ln>
            <a:noFill/>
          </a:ln>
          <a:effectLst>
            <a:outerShdw blurRad="57150" rotWithShape="0" algn="bl" dir="5400000" dist="19050">
              <a:srgbClr val="000000">
                <a:alpha val="49019"/>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 sz="2500" u="none" cap="none" strike="noStrike">
                <a:solidFill>
                  <a:schemeClr val="lt1"/>
                </a:solidFill>
                <a:latin typeface="Rubik SemiBold"/>
                <a:ea typeface="Rubik SemiBold"/>
                <a:cs typeface="Rubik SemiBold"/>
                <a:sym typeface="Rubik SemiBold"/>
              </a:rPr>
              <a:t>Kimia Farma - Big Data Analytics</a:t>
            </a:r>
            <a:endParaRPr b="0" i="0" sz="2500" u="none" cap="none" strike="noStrike">
              <a:solidFill>
                <a:schemeClr val="lt1"/>
              </a:solidFill>
              <a:latin typeface="Rubik SemiBold"/>
              <a:ea typeface="Rubik SemiBold"/>
              <a:cs typeface="Rubik SemiBold"/>
              <a:sym typeface="Rubik SemiBold"/>
            </a:endParaRPr>
          </a:p>
        </p:txBody>
      </p:sp>
      <p:sp>
        <p:nvSpPr>
          <p:cNvPr id="58" name="Google Shape;58;p1"/>
          <p:cNvSpPr/>
          <p:nvPr/>
        </p:nvSpPr>
        <p:spPr>
          <a:xfrm>
            <a:off x="6757125" y="-621925"/>
            <a:ext cx="3135000" cy="30510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
          <p:cNvSpPr txBox="1"/>
          <p:nvPr/>
        </p:nvSpPr>
        <p:spPr>
          <a:xfrm>
            <a:off x="1769125" y="172450"/>
            <a:ext cx="457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chemeClr val="lt1"/>
                </a:solidFill>
                <a:latin typeface="Rubik SemiBold"/>
                <a:ea typeface="Rubik SemiBold"/>
                <a:cs typeface="Rubik SemiBold"/>
                <a:sym typeface="Rubik SemiBold"/>
              </a:rPr>
              <a:t>X</a:t>
            </a:r>
            <a:endParaRPr b="0" i="0" sz="3000" u="none" cap="none" strike="noStrike">
              <a:solidFill>
                <a:schemeClr val="lt1"/>
              </a:solidFill>
              <a:latin typeface="Rubik SemiBold"/>
              <a:ea typeface="Rubik SemiBold"/>
              <a:cs typeface="Rubik SemiBold"/>
              <a:sym typeface="Rubik SemiBold"/>
            </a:endParaRPr>
          </a:p>
        </p:txBody>
      </p:sp>
      <p:sp>
        <p:nvSpPr>
          <p:cNvPr id="60" name="Google Shape;60;p1"/>
          <p:cNvSpPr txBox="1"/>
          <p:nvPr/>
        </p:nvSpPr>
        <p:spPr>
          <a:xfrm>
            <a:off x="517900" y="3699700"/>
            <a:ext cx="4933200" cy="954300"/>
          </a:xfrm>
          <a:prstGeom prst="rect">
            <a:avLst/>
          </a:prstGeom>
          <a:noFill/>
          <a:ln>
            <a:noFill/>
          </a:ln>
          <a:effectLst>
            <a:outerShdw blurRad="57150" rotWithShape="0" algn="bl" dir="5400000" dist="19050">
              <a:srgbClr val="000000">
                <a:alpha val="49019"/>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lt1"/>
                </a:solidFill>
                <a:latin typeface="Rubik Light"/>
                <a:ea typeface="Rubik Light"/>
                <a:cs typeface="Rubik Light"/>
                <a:sym typeface="Rubik Light"/>
              </a:rPr>
              <a:t>Presented by</a:t>
            </a:r>
            <a:endParaRPr b="0" i="0" sz="2000" u="none" cap="none" strike="noStrike">
              <a:solidFill>
                <a:schemeClr val="lt1"/>
              </a:solidFill>
              <a:latin typeface="Rubik Light"/>
              <a:ea typeface="Rubik Light"/>
              <a:cs typeface="Rubik Light"/>
              <a:sym typeface="Rubik Light"/>
            </a:endParaRPr>
          </a:p>
          <a:p>
            <a:pPr indent="0" lvl="0" marL="0" marR="0" rtl="0" algn="l">
              <a:lnSpc>
                <a:spcPct val="100000"/>
              </a:lnSpc>
              <a:spcBef>
                <a:spcPts val="0"/>
              </a:spcBef>
              <a:spcAft>
                <a:spcPts val="0"/>
              </a:spcAft>
              <a:buClr>
                <a:srgbClr val="000000"/>
              </a:buClr>
              <a:buSzPts val="2000"/>
              <a:buFont typeface="Arial"/>
              <a:buNone/>
            </a:pPr>
            <a:r>
              <a:rPr lang="en" sz="3000">
                <a:solidFill>
                  <a:schemeClr val="lt1"/>
                </a:solidFill>
                <a:latin typeface="Rubik Light"/>
                <a:ea typeface="Rubik Light"/>
                <a:cs typeface="Rubik Light"/>
                <a:sym typeface="Rubik Light"/>
              </a:rPr>
              <a:t>Juan Anemao Sokhi Zidomi</a:t>
            </a:r>
            <a:endParaRPr b="0" i="0" sz="3000" u="none" cap="none" strike="noStrike">
              <a:solidFill>
                <a:schemeClr val="lt1"/>
              </a:solidFill>
              <a:latin typeface="Rubik Light"/>
              <a:ea typeface="Rubik Light"/>
              <a:cs typeface="Rubik Light"/>
              <a:sym typeface="Rubik Light"/>
            </a:endParaRPr>
          </a:p>
        </p:txBody>
      </p:sp>
      <p:pic>
        <p:nvPicPr>
          <p:cNvPr id="61" name="Google Shape;61;p1"/>
          <p:cNvPicPr preferRelativeResize="0"/>
          <p:nvPr/>
        </p:nvPicPr>
        <p:blipFill rotWithShape="1">
          <a:blip r:embed="rId5">
            <a:alphaModFix/>
          </a:blip>
          <a:srcRect b="0" l="0" r="0" t="0"/>
          <a:stretch/>
        </p:blipFill>
        <p:spPr>
          <a:xfrm>
            <a:off x="2350825" y="133900"/>
            <a:ext cx="1581660" cy="569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3"/>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67" name="Google Shape;67;p3"/>
          <p:cNvPicPr preferRelativeResize="0"/>
          <p:nvPr/>
        </p:nvPicPr>
        <p:blipFill rotWithShape="1">
          <a:blip r:embed="rId4">
            <a:alphaModFix/>
          </a:blip>
          <a:srcRect b="5649" l="0" r="0" t="5658"/>
          <a:stretch/>
        </p:blipFill>
        <p:spPr>
          <a:xfrm>
            <a:off x="7317600" y="91675"/>
            <a:ext cx="1399902" cy="541300"/>
          </a:xfrm>
          <a:prstGeom prst="rect">
            <a:avLst/>
          </a:prstGeom>
          <a:noFill/>
          <a:ln>
            <a:noFill/>
          </a:ln>
        </p:spPr>
      </p:pic>
      <p:sp>
        <p:nvSpPr>
          <p:cNvPr id="68" name="Google Shape;68;p3"/>
          <p:cNvSpPr/>
          <p:nvPr/>
        </p:nvSpPr>
        <p:spPr>
          <a:xfrm>
            <a:off x="0" y="0"/>
            <a:ext cx="4572000" cy="5143500"/>
          </a:xfrm>
          <a:prstGeom prst="rect">
            <a:avLst/>
          </a:prstGeom>
          <a:solidFill>
            <a:srgbClr val="019FAB">
              <a:alpha val="4745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3"/>
          <p:cNvSpPr/>
          <p:nvPr/>
        </p:nvSpPr>
        <p:spPr>
          <a:xfrm>
            <a:off x="1033575" y="470775"/>
            <a:ext cx="2431800" cy="32988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ubik Medium"/>
                <a:ea typeface="Rubik Medium"/>
                <a:cs typeface="Rubik Medium"/>
                <a:sym typeface="Rubik Medium"/>
              </a:rPr>
              <a:t>Insert your photo here</a:t>
            </a:r>
            <a:endParaRPr b="0" i="0" sz="1400" u="none" cap="none" strike="noStrike">
              <a:solidFill>
                <a:srgbClr val="000000"/>
              </a:solidFill>
              <a:latin typeface="Rubik Medium"/>
              <a:ea typeface="Rubik Medium"/>
              <a:cs typeface="Rubik Medium"/>
              <a:sym typeface="Rubik Medium"/>
            </a:endParaRPr>
          </a:p>
        </p:txBody>
      </p:sp>
      <p:sp>
        <p:nvSpPr>
          <p:cNvPr id="70" name="Google Shape;70;p3"/>
          <p:cNvSpPr txBox="1"/>
          <p:nvPr/>
        </p:nvSpPr>
        <p:spPr>
          <a:xfrm>
            <a:off x="4890750" y="632975"/>
            <a:ext cx="37401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lang="en" sz="2000">
                <a:latin typeface="Rubik SemiBold"/>
                <a:ea typeface="Rubik SemiBold"/>
                <a:cs typeface="Rubik SemiBold"/>
                <a:sym typeface="Rubik SemiBold"/>
              </a:rPr>
              <a:t>Juan Anemao Sokhi Zidomi</a:t>
            </a:r>
            <a:endParaRPr b="0" i="0" sz="2000" u="none" cap="none" strike="noStrike">
              <a:solidFill>
                <a:srgbClr val="000000"/>
              </a:solidFill>
              <a:latin typeface="Rubik SemiBold"/>
              <a:ea typeface="Rubik SemiBold"/>
              <a:cs typeface="Rubik SemiBold"/>
              <a:sym typeface="Rubik SemiBold"/>
            </a:endParaRPr>
          </a:p>
        </p:txBody>
      </p:sp>
      <p:sp>
        <p:nvSpPr>
          <p:cNvPr id="71" name="Google Shape;71;p3"/>
          <p:cNvSpPr txBox="1"/>
          <p:nvPr/>
        </p:nvSpPr>
        <p:spPr>
          <a:xfrm>
            <a:off x="4796800" y="1125575"/>
            <a:ext cx="4048200" cy="34170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rgbClr val="000000"/>
              </a:buClr>
              <a:buSzPts val="2000"/>
              <a:buFont typeface="Arial"/>
              <a:buNone/>
            </a:pPr>
            <a:r>
              <a:rPr lang="en" sz="1200">
                <a:latin typeface="Rubik Medium"/>
                <a:ea typeface="Rubik Medium"/>
                <a:cs typeface="Rubik Medium"/>
                <a:sym typeface="Rubik Medium"/>
              </a:rPr>
              <a:t>Lulusan Teknik Komputer Universitas Telkom (cumlaude, 2024) dengan perolehan Haki atas Tugas Akhir.</a:t>
            </a:r>
            <a:r>
              <a:rPr lang="en" sz="1200">
                <a:latin typeface="Rubik Medium"/>
                <a:ea typeface="Rubik Medium"/>
                <a:cs typeface="Rubik Medium"/>
                <a:sym typeface="Rubik Medium"/>
              </a:rPr>
              <a:t> Selain itu, mengikuti organisasi di kampus menjadi Asisten Laboratorium</a:t>
            </a:r>
            <a:endParaRPr sz="1200">
              <a:latin typeface="Rubik Medium"/>
              <a:ea typeface="Rubik Medium"/>
              <a:cs typeface="Rubik Medium"/>
              <a:sym typeface="Rubik Medium"/>
            </a:endParaRPr>
          </a:p>
          <a:p>
            <a:pPr indent="0" lvl="0" marL="0" marR="0" rtl="0" algn="just">
              <a:lnSpc>
                <a:spcPct val="150000"/>
              </a:lnSpc>
              <a:spcBef>
                <a:spcPts val="0"/>
              </a:spcBef>
              <a:spcAft>
                <a:spcPts val="0"/>
              </a:spcAft>
              <a:buClr>
                <a:srgbClr val="000000"/>
              </a:buClr>
              <a:buSzPts val="2000"/>
              <a:buFont typeface="Arial"/>
              <a:buNone/>
            </a:pPr>
            <a:r>
              <a:rPr lang="en" sz="1200">
                <a:latin typeface="Rubik Medium"/>
                <a:ea typeface="Rubik Medium"/>
                <a:cs typeface="Rubik Medium"/>
                <a:sym typeface="Rubik Medium"/>
              </a:rPr>
              <a:t>Berfokus dalam membangun, melatih dan mengoptimalkan machine learning serta melakukan visualisasi data menggunakan tools visualisasi seperti Google Locker Studio. Terampil dalam melakukan data preprocessing, eksplorasi data (EDA) dan pemecahan masalah berdasarkan data. Menguasai Python, Tensorflow, Scikit-Learn, dan alat pendukung lainnya. </a:t>
            </a:r>
            <a:endParaRPr sz="1200">
              <a:latin typeface="Rubik Medium"/>
              <a:ea typeface="Rubik Medium"/>
              <a:cs typeface="Rubik Medium"/>
              <a:sym typeface="Rubik Medium"/>
            </a:endParaRPr>
          </a:p>
        </p:txBody>
      </p:sp>
      <p:sp>
        <p:nvSpPr>
          <p:cNvPr id="72" name="Google Shape;72;p3"/>
          <p:cNvSpPr txBox="1"/>
          <p:nvPr/>
        </p:nvSpPr>
        <p:spPr>
          <a:xfrm>
            <a:off x="1004800" y="3928325"/>
            <a:ext cx="35046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2000"/>
              <a:buFont typeface="Arial"/>
              <a:buNone/>
            </a:pPr>
            <a:r>
              <a:rPr lang="en" sz="1200">
                <a:latin typeface="Rubik Medium"/>
                <a:ea typeface="Rubik Medium"/>
                <a:cs typeface="Rubik Medium"/>
                <a:sym typeface="Rubik Medium"/>
              </a:rPr>
              <a:t>Bandung, Jawa Barat</a:t>
            </a:r>
            <a:endParaRPr b="0" i="0" sz="1200" u="none" cap="none" strike="noStrike">
              <a:solidFill>
                <a:srgbClr val="000000"/>
              </a:solidFill>
              <a:latin typeface="Rubik Medium"/>
              <a:ea typeface="Rubik Medium"/>
              <a:cs typeface="Rubik Medium"/>
              <a:sym typeface="Rubik Medium"/>
            </a:endParaRPr>
          </a:p>
        </p:txBody>
      </p:sp>
      <p:pic>
        <p:nvPicPr>
          <p:cNvPr id="73" name="Google Shape;73;p3"/>
          <p:cNvPicPr preferRelativeResize="0"/>
          <p:nvPr/>
        </p:nvPicPr>
        <p:blipFill rotWithShape="1">
          <a:blip r:embed="rId5">
            <a:alphaModFix/>
          </a:blip>
          <a:srcRect b="0" l="0" r="0" t="0"/>
          <a:stretch/>
        </p:blipFill>
        <p:spPr>
          <a:xfrm>
            <a:off x="510750" y="4774200"/>
            <a:ext cx="369300" cy="369300"/>
          </a:xfrm>
          <a:prstGeom prst="rect">
            <a:avLst/>
          </a:prstGeom>
          <a:noFill/>
          <a:ln>
            <a:noFill/>
          </a:ln>
        </p:spPr>
      </p:pic>
      <p:pic>
        <p:nvPicPr>
          <p:cNvPr id="74" name="Google Shape;74;p3"/>
          <p:cNvPicPr preferRelativeResize="0"/>
          <p:nvPr/>
        </p:nvPicPr>
        <p:blipFill rotWithShape="1">
          <a:blip r:embed="rId6">
            <a:alphaModFix/>
          </a:blip>
          <a:srcRect b="0" l="0" r="0" t="0"/>
          <a:stretch/>
        </p:blipFill>
        <p:spPr>
          <a:xfrm>
            <a:off x="495300" y="3912875"/>
            <a:ext cx="400201" cy="400201"/>
          </a:xfrm>
          <a:prstGeom prst="rect">
            <a:avLst/>
          </a:prstGeom>
          <a:noFill/>
          <a:ln>
            <a:noFill/>
          </a:ln>
        </p:spPr>
      </p:pic>
      <p:pic>
        <p:nvPicPr>
          <p:cNvPr id="75" name="Google Shape;75;p3"/>
          <p:cNvPicPr preferRelativeResize="0"/>
          <p:nvPr/>
        </p:nvPicPr>
        <p:blipFill rotWithShape="1">
          <a:blip r:embed="rId7">
            <a:alphaModFix/>
          </a:blip>
          <a:srcRect b="0" l="0" r="0" t="0"/>
          <a:stretch/>
        </p:blipFill>
        <p:spPr>
          <a:xfrm>
            <a:off x="504096" y="4411877"/>
            <a:ext cx="369300" cy="263511"/>
          </a:xfrm>
          <a:prstGeom prst="rect">
            <a:avLst/>
          </a:prstGeom>
          <a:noFill/>
          <a:ln>
            <a:noFill/>
          </a:ln>
        </p:spPr>
      </p:pic>
      <p:sp>
        <p:nvSpPr>
          <p:cNvPr id="76" name="Google Shape;76;p3"/>
          <p:cNvSpPr txBox="1"/>
          <p:nvPr/>
        </p:nvSpPr>
        <p:spPr>
          <a:xfrm>
            <a:off x="1004800" y="4750550"/>
            <a:ext cx="35046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2000"/>
              <a:buFont typeface="Arial"/>
              <a:buNone/>
            </a:pPr>
            <a:r>
              <a:rPr lang="en" sz="1200">
                <a:latin typeface="Rubik Medium"/>
                <a:ea typeface="Rubik Medium"/>
                <a:cs typeface="Rubik Medium"/>
                <a:sym typeface="Rubik Medium"/>
              </a:rPr>
              <a:t>Juan Anemao Sokhi Zidomi</a:t>
            </a:r>
            <a:endParaRPr b="0" i="0" sz="1200" u="none" cap="none" strike="noStrike">
              <a:solidFill>
                <a:srgbClr val="000000"/>
              </a:solidFill>
              <a:latin typeface="Rubik Medium"/>
              <a:ea typeface="Rubik Medium"/>
              <a:cs typeface="Rubik Medium"/>
              <a:sym typeface="Rubik Medium"/>
            </a:endParaRPr>
          </a:p>
        </p:txBody>
      </p:sp>
      <p:sp>
        <p:nvSpPr>
          <p:cNvPr id="77" name="Google Shape;77;p3"/>
          <p:cNvSpPr txBox="1"/>
          <p:nvPr/>
        </p:nvSpPr>
        <p:spPr>
          <a:xfrm>
            <a:off x="1004800" y="4358988"/>
            <a:ext cx="35046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2000"/>
              <a:buFont typeface="Arial"/>
              <a:buNone/>
            </a:pPr>
            <a:r>
              <a:rPr lang="en" sz="1200">
                <a:latin typeface="Rubik Medium"/>
                <a:ea typeface="Rubik Medium"/>
                <a:cs typeface="Rubik Medium"/>
                <a:sym typeface="Rubik Medium"/>
              </a:rPr>
              <a:t>juanaszidomi12@gmail.com</a:t>
            </a:r>
            <a:endParaRPr b="0" i="0" sz="1200" u="none" cap="none" strike="noStrike">
              <a:solidFill>
                <a:srgbClr val="000000"/>
              </a:solidFill>
              <a:latin typeface="Rubik Medium"/>
              <a:ea typeface="Rubik Medium"/>
              <a:cs typeface="Rubik Medium"/>
              <a:sym typeface="Rubik Medium"/>
            </a:endParaRPr>
          </a:p>
        </p:txBody>
      </p:sp>
      <p:pic>
        <p:nvPicPr>
          <p:cNvPr id="78" name="Google Shape;78;p3" title="Foto-Ijazah-min.jpeg"/>
          <p:cNvPicPr preferRelativeResize="0"/>
          <p:nvPr/>
        </p:nvPicPr>
        <p:blipFill rotWithShape="1">
          <a:blip r:embed="rId8">
            <a:alphaModFix/>
          </a:blip>
          <a:srcRect b="0" l="0" r="0" t="5078"/>
          <a:stretch/>
        </p:blipFill>
        <p:spPr>
          <a:xfrm>
            <a:off x="1033575" y="451475"/>
            <a:ext cx="2431800" cy="3298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g265ee868302_0_130"/>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84" name="Google Shape;84;g265ee868302_0_130"/>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85" name="Google Shape;85;g265ee868302_0_130"/>
          <p:cNvSpPr txBox="1"/>
          <p:nvPr/>
        </p:nvSpPr>
        <p:spPr>
          <a:xfrm>
            <a:off x="340500" y="452038"/>
            <a:ext cx="8463000" cy="646500"/>
          </a:xfrm>
          <a:prstGeom prst="rect">
            <a:avLst/>
          </a:prstGeom>
          <a:noFill/>
          <a:ln>
            <a:noFill/>
          </a:ln>
          <a:effectLst>
            <a:outerShdw blurRad="57150" rotWithShape="0" algn="bl" dir="2820000" dist="19050">
              <a:srgbClr val="B7B7B7">
                <a:alpha val="85098"/>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000"/>
              <a:buFont typeface="Arial"/>
              <a:buNone/>
            </a:pPr>
            <a:r>
              <a:rPr b="1" i="0" lang="en" sz="3000" u="none" cap="none" strike="noStrike">
                <a:solidFill>
                  <a:srgbClr val="000000"/>
                </a:solidFill>
                <a:latin typeface="Rubik"/>
                <a:ea typeface="Rubik"/>
                <a:cs typeface="Rubik"/>
                <a:sym typeface="Rubik"/>
              </a:rPr>
              <a:t>Courses and </a:t>
            </a:r>
            <a:r>
              <a:rPr b="1" i="0" lang="en" sz="3000" u="none" cap="none" strike="noStrike">
                <a:solidFill>
                  <a:schemeClr val="accent5"/>
                </a:solidFill>
                <a:latin typeface="Rubik"/>
                <a:ea typeface="Rubik"/>
                <a:cs typeface="Rubik"/>
                <a:sym typeface="Rubik"/>
              </a:rPr>
              <a:t>Certification</a:t>
            </a:r>
            <a:endParaRPr b="1" i="0" sz="3000" u="none" cap="none" strike="noStrike">
              <a:solidFill>
                <a:schemeClr val="accent5"/>
              </a:solidFill>
              <a:latin typeface="Rubik"/>
              <a:ea typeface="Rubik"/>
              <a:cs typeface="Rubik"/>
              <a:sym typeface="Rubik"/>
            </a:endParaRPr>
          </a:p>
        </p:txBody>
      </p:sp>
      <p:sp>
        <p:nvSpPr>
          <p:cNvPr id="86" name="Google Shape;86;g265ee868302_0_130"/>
          <p:cNvSpPr txBox="1"/>
          <p:nvPr/>
        </p:nvSpPr>
        <p:spPr>
          <a:xfrm>
            <a:off x="704325" y="2210775"/>
            <a:ext cx="6660300" cy="1262100"/>
          </a:xfrm>
          <a:prstGeom prst="rect">
            <a:avLst/>
          </a:prstGeom>
          <a:noFill/>
          <a:ln>
            <a:noFill/>
          </a:ln>
        </p:spPr>
        <p:txBody>
          <a:bodyPr anchorCtr="0" anchor="t" bIns="91425" lIns="91425" spcFirstLastPara="1" rIns="91425" wrap="square" tIns="91425">
            <a:spAutoFit/>
          </a:bodyPr>
          <a:lstStyle/>
          <a:p>
            <a:pPr indent="-317500" lvl="0" marL="457200" rtl="0" algn="just">
              <a:lnSpc>
                <a:spcPct val="200000"/>
              </a:lnSpc>
              <a:spcBef>
                <a:spcPts val="0"/>
              </a:spcBef>
              <a:spcAft>
                <a:spcPts val="0"/>
              </a:spcAft>
              <a:buClr>
                <a:schemeClr val="dk1"/>
              </a:buClr>
              <a:buSzPts val="1400"/>
              <a:buFont typeface="Rubik"/>
              <a:buChar char="●"/>
            </a:pPr>
            <a:r>
              <a:rPr b="1" lang="en">
                <a:solidFill>
                  <a:schemeClr val="dk1"/>
                </a:solidFill>
                <a:latin typeface="Rubik"/>
                <a:ea typeface="Rubik"/>
                <a:cs typeface="Rubik"/>
                <a:sym typeface="Rubik"/>
              </a:rPr>
              <a:t>Laskar AI: AI Engineer and Data Scientist         | </a:t>
            </a:r>
            <a:r>
              <a:rPr b="1" lang="en" u="sng">
                <a:solidFill>
                  <a:schemeClr val="accent5"/>
                </a:solidFill>
                <a:latin typeface="Rubik"/>
                <a:ea typeface="Rubik"/>
                <a:cs typeface="Rubik"/>
                <a:sym typeface="Rubik"/>
                <a:hlinkClick r:id="rId5">
                  <a:extLst>
                    <a:ext uri="{A12FA001-AC4F-418D-AE19-62706E023703}">
                      <ahyp:hlinkClr val="tx"/>
                    </a:ext>
                  </a:extLst>
                </a:hlinkClick>
              </a:rPr>
              <a:t>Link Certificate</a:t>
            </a:r>
            <a:r>
              <a:rPr b="1" lang="en">
                <a:solidFill>
                  <a:schemeClr val="accent5"/>
                </a:solidFill>
                <a:latin typeface="Rubik"/>
                <a:ea typeface="Rubik"/>
                <a:cs typeface="Rubik"/>
                <a:sym typeface="Rubik"/>
              </a:rPr>
              <a:t>	</a:t>
            </a:r>
            <a:endParaRPr b="1">
              <a:solidFill>
                <a:schemeClr val="accent5"/>
              </a:solidFill>
              <a:latin typeface="Rubik"/>
              <a:ea typeface="Rubik"/>
              <a:cs typeface="Rubik"/>
              <a:sym typeface="Rubik"/>
            </a:endParaRPr>
          </a:p>
          <a:p>
            <a:pPr indent="-317500" lvl="0" marL="457200" rtl="0" algn="just">
              <a:lnSpc>
                <a:spcPct val="200000"/>
              </a:lnSpc>
              <a:spcBef>
                <a:spcPts val="0"/>
              </a:spcBef>
              <a:spcAft>
                <a:spcPts val="0"/>
              </a:spcAft>
              <a:buClr>
                <a:schemeClr val="dk1"/>
              </a:buClr>
              <a:buSzPts val="1400"/>
              <a:buFont typeface="Rubik"/>
              <a:buChar char="●"/>
            </a:pPr>
            <a:r>
              <a:rPr b="1" lang="en">
                <a:solidFill>
                  <a:schemeClr val="dk1"/>
                </a:solidFill>
                <a:latin typeface="Rubik"/>
                <a:ea typeface="Rubik"/>
                <a:cs typeface="Rubik"/>
                <a:sym typeface="Rubik"/>
              </a:rPr>
              <a:t>DQLAB : AI Engineer and Data Scientist              | </a:t>
            </a:r>
            <a:r>
              <a:rPr b="1" lang="en" u="sng">
                <a:solidFill>
                  <a:schemeClr val="accent5"/>
                </a:solidFill>
                <a:latin typeface="Rubik"/>
                <a:ea typeface="Rubik"/>
                <a:cs typeface="Rubik"/>
                <a:sym typeface="Rubik"/>
                <a:hlinkClick r:id="rId6">
                  <a:extLst>
                    <a:ext uri="{A12FA001-AC4F-418D-AE19-62706E023703}">
                      <ahyp:hlinkClr val="tx"/>
                    </a:ext>
                  </a:extLst>
                </a:hlinkClick>
              </a:rPr>
              <a:t>Link Certificate</a:t>
            </a:r>
            <a:endParaRPr b="1">
              <a:solidFill>
                <a:schemeClr val="accent5"/>
              </a:solidFill>
              <a:latin typeface="Rubik"/>
              <a:ea typeface="Rubik"/>
              <a:cs typeface="Rubik"/>
              <a:sym typeface="Rubik"/>
            </a:endParaRPr>
          </a:p>
          <a:p>
            <a:pPr indent="-317500" lvl="0" marL="457200" rtl="0" algn="just">
              <a:lnSpc>
                <a:spcPct val="200000"/>
              </a:lnSpc>
              <a:spcBef>
                <a:spcPts val="0"/>
              </a:spcBef>
              <a:spcAft>
                <a:spcPts val="0"/>
              </a:spcAft>
              <a:buClr>
                <a:schemeClr val="dk1"/>
              </a:buClr>
              <a:buSzPts val="1400"/>
              <a:buFont typeface="Rubik"/>
              <a:buChar char="●"/>
            </a:pPr>
            <a:r>
              <a:rPr b="1" lang="en">
                <a:solidFill>
                  <a:schemeClr val="dk1"/>
                </a:solidFill>
                <a:latin typeface="Rubik"/>
                <a:ea typeface="Rubik"/>
                <a:cs typeface="Rubik"/>
                <a:sym typeface="Rubik"/>
              </a:rPr>
              <a:t>MySkill ID: Data Analyst Intensive Bootcamp  | </a:t>
            </a:r>
            <a:r>
              <a:rPr b="1" lang="en" u="sng">
                <a:solidFill>
                  <a:schemeClr val="accent5"/>
                </a:solidFill>
                <a:latin typeface="Rubik"/>
                <a:ea typeface="Rubik"/>
                <a:cs typeface="Rubik"/>
                <a:sym typeface="Rubik"/>
                <a:hlinkClick r:id="rId7">
                  <a:extLst>
                    <a:ext uri="{A12FA001-AC4F-418D-AE19-62706E023703}">
                      <ahyp:hlinkClr val="tx"/>
                    </a:ext>
                  </a:extLst>
                </a:hlinkClick>
              </a:rPr>
              <a:t>Link Certificate</a:t>
            </a:r>
            <a:r>
              <a:rPr b="1" lang="en">
                <a:solidFill>
                  <a:schemeClr val="accent5"/>
                </a:solidFill>
                <a:latin typeface="Rubik"/>
                <a:ea typeface="Rubik"/>
                <a:cs typeface="Rubik"/>
                <a:sym typeface="Rubik"/>
              </a:rPr>
              <a:t>		</a:t>
            </a:r>
            <a:endParaRPr b="1">
              <a:solidFill>
                <a:schemeClr val="accent5"/>
              </a:solidFill>
              <a:latin typeface="Rubik"/>
              <a:ea typeface="Rubik"/>
              <a:cs typeface="Rubik"/>
              <a:sym typeface="Rubi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p4"/>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92" name="Google Shape;92;p4"/>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93" name="Google Shape;93;p4"/>
          <p:cNvSpPr txBox="1"/>
          <p:nvPr/>
        </p:nvSpPr>
        <p:spPr>
          <a:xfrm>
            <a:off x="340500" y="1324950"/>
            <a:ext cx="4946400" cy="2918400"/>
          </a:xfrm>
          <a:prstGeom prst="rect">
            <a:avLst/>
          </a:prstGeom>
          <a:noFill/>
          <a:ln>
            <a:noFill/>
          </a:ln>
        </p:spPr>
        <p:txBody>
          <a:bodyPr anchorCtr="0" anchor="t" bIns="91425" lIns="91425" spcFirstLastPara="1" rIns="91425" wrap="square" tIns="91425">
            <a:spAutoFit/>
          </a:bodyPr>
          <a:lstStyle/>
          <a:p>
            <a:pPr indent="457200" lvl="0" marL="0" marR="0" rtl="0" algn="just">
              <a:lnSpc>
                <a:spcPct val="115000"/>
              </a:lnSpc>
              <a:spcBef>
                <a:spcPts val="0"/>
              </a:spcBef>
              <a:spcAft>
                <a:spcPts val="0"/>
              </a:spcAft>
              <a:buClr>
                <a:schemeClr val="dk1"/>
              </a:buClr>
              <a:buSzPts val="1100"/>
              <a:buFont typeface="Arial"/>
              <a:buNone/>
            </a:pPr>
            <a:r>
              <a:rPr b="1" lang="en" sz="1200">
                <a:solidFill>
                  <a:schemeClr val="dk1"/>
                </a:solidFill>
              </a:rPr>
              <a:t>Kimia Farma adalah perusahaan industri farmasi pertama di Indonesia yang didirikan oleh Pemerintah Hindia Belanda tahun 1817. Nama perusahaan ini pada awalnya adalah NV Chemicalien Handle Rathkamp &amp; Co. </a:t>
            </a:r>
            <a:endParaRPr b="1" sz="1200">
              <a:solidFill>
                <a:schemeClr val="dk1"/>
              </a:solidFill>
            </a:endParaRPr>
          </a:p>
          <a:p>
            <a:pPr indent="457200" lvl="0" marL="0" marR="0" rtl="0" algn="just">
              <a:lnSpc>
                <a:spcPct val="115000"/>
              </a:lnSpc>
              <a:spcBef>
                <a:spcPts val="0"/>
              </a:spcBef>
              <a:spcAft>
                <a:spcPts val="0"/>
              </a:spcAft>
              <a:buClr>
                <a:schemeClr val="dk1"/>
              </a:buClr>
              <a:buSzPts val="1100"/>
              <a:buFont typeface="Arial"/>
              <a:buNone/>
            </a:pPr>
            <a:r>
              <a:t/>
            </a:r>
            <a:endParaRPr b="1" sz="1200">
              <a:solidFill>
                <a:schemeClr val="dk1"/>
              </a:solidFill>
            </a:endParaRPr>
          </a:p>
          <a:p>
            <a:pPr indent="457200" lvl="0" marL="0" marR="0" rtl="0" algn="just">
              <a:lnSpc>
                <a:spcPct val="115000"/>
              </a:lnSpc>
              <a:spcBef>
                <a:spcPts val="0"/>
              </a:spcBef>
              <a:spcAft>
                <a:spcPts val="0"/>
              </a:spcAft>
              <a:buClr>
                <a:schemeClr val="dk1"/>
              </a:buClr>
              <a:buSzPts val="1100"/>
              <a:buFont typeface="Arial"/>
              <a:buNone/>
            </a:pPr>
            <a:r>
              <a:rPr b="1" lang="en" sz="1200">
                <a:solidFill>
                  <a:schemeClr val="dk1"/>
                </a:solidFill>
              </a:rPr>
              <a:t>Berdasarkan kebijaksanaan nasionalisasi atas eks perusahaan Belanda di masa awal kemerdekaan, pada tahun 1958, Pemerintah Republik Indonesia melakukan peleburan sejumlah perusahaan farmasi menjadi PNF (Perusahaan Negara Farmasi) Bhinneka Kimia Farma. Kemudian pada tanggal 16 Agustus 1971, bentuk badan hukum PNF diubah menjadi Perseroan Terbatas, sehingga nama perusahaan berubah menjadi PT Kimia Farma (Persero).</a:t>
            </a:r>
            <a:endParaRPr b="1" i="0" sz="1200" u="none" cap="none" strike="noStrike">
              <a:solidFill>
                <a:srgbClr val="000000"/>
              </a:solidFill>
            </a:endParaRPr>
          </a:p>
        </p:txBody>
      </p:sp>
      <p:sp>
        <p:nvSpPr>
          <p:cNvPr id="94" name="Google Shape;94;p4"/>
          <p:cNvSpPr txBox="1"/>
          <p:nvPr/>
        </p:nvSpPr>
        <p:spPr>
          <a:xfrm>
            <a:off x="340500" y="452038"/>
            <a:ext cx="8463000" cy="646500"/>
          </a:xfrm>
          <a:prstGeom prst="rect">
            <a:avLst/>
          </a:prstGeom>
          <a:noFill/>
          <a:ln>
            <a:noFill/>
          </a:ln>
          <a:effectLst>
            <a:outerShdw blurRad="57150" rotWithShape="0" algn="bl" dir="2820000" dist="19050">
              <a:srgbClr val="B7B7B7">
                <a:alpha val="85098"/>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000"/>
              <a:buFont typeface="Arial"/>
              <a:buNone/>
            </a:pPr>
            <a:r>
              <a:rPr b="1" i="0" lang="en" sz="3000" u="none" cap="none" strike="noStrike">
                <a:solidFill>
                  <a:srgbClr val="000000"/>
                </a:solidFill>
                <a:latin typeface="Rubik"/>
                <a:ea typeface="Rubik"/>
                <a:cs typeface="Rubik"/>
                <a:sym typeface="Rubik"/>
              </a:rPr>
              <a:t>About </a:t>
            </a:r>
            <a:r>
              <a:rPr b="1" i="0" lang="en" sz="3000" u="none" cap="none" strike="noStrike">
                <a:solidFill>
                  <a:schemeClr val="accent5"/>
                </a:solidFill>
                <a:latin typeface="Rubik"/>
                <a:ea typeface="Rubik"/>
                <a:cs typeface="Rubik"/>
                <a:sym typeface="Rubik"/>
              </a:rPr>
              <a:t>Company</a:t>
            </a:r>
            <a:endParaRPr b="1" i="0" sz="3000" u="none" cap="none" strike="noStrike">
              <a:solidFill>
                <a:schemeClr val="accent5"/>
              </a:solidFill>
              <a:latin typeface="Rubik"/>
              <a:ea typeface="Rubik"/>
              <a:cs typeface="Rubik"/>
              <a:sym typeface="Rubik"/>
            </a:endParaRPr>
          </a:p>
        </p:txBody>
      </p:sp>
      <p:pic>
        <p:nvPicPr>
          <p:cNvPr id="95" name="Google Shape;95;p4"/>
          <p:cNvPicPr preferRelativeResize="0"/>
          <p:nvPr/>
        </p:nvPicPr>
        <p:blipFill rotWithShape="1">
          <a:blip r:embed="rId5">
            <a:alphaModFix/>
          </a:blip>
          <a:srcRect b="0" l="0" r="0" t="0"/>
          <a:stretch/>
        </p:blipFill>
        <p:spPr>
          <a:xfrm>
            <a:off x="5534475" y="1403868"/>
            <a:ext cx="3104925" cy="1115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g265ee868302_0_99"/>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01" name="Google Shape;101;g265ee868302_0_99"/>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102" name="Google Shape;102;g265ee868302_0_99"/>
          <p:cNvSpPr txBox="1"/>
          <p:nvPr/>
        </p:nvSpPr>
        <p:spPr>
          <a:xfrm>
            <a:off x="340500" y="726925"/>
            <a:ext cx="8340300" cy="2801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Clr>
                <a:schemeClr val="dk1"/>
              </a:buClr>
              <a:buSzPts val="1100"/>
              <a:buFont typeface="Arial"/>
              <a:buNone/>
            </a:pPr>
            <a:r>
              <a:rPr lang="en" sz="1200">
                <a:latin typeface="Rubik"/>
                <a:ea typeface="Rubik"/>
                <a:cs typeface="Rubik"/>
                <a:sym typeface="Rubik"/>
              </a:rPr>
              <a:t>    Sebagai salah satu perusahaan farmasi terbesar di Indonesia, PT Kimia Farma menghasilkan beragam data dari operasional apotek, distribusi produk, hingga proses produksi. Namun, data tersebut belum dimanfaatkan secara optimal untuk mendukung pengambilan keputusan yang cepat dan akurat. Tantangan seperti data yang tersebar di berbagai sistem, kurangnya integrasi, serta visualisasi analitis yang tidak memadai mendorong kebutuhan akan solusi data yang lebih komprehensif.</a:t>
            </a:r>
            <a:endParaRPr sz="1200">
              <a:latin typeface="Rubik"/>
              <a:ea typeface="Rubik"/>
              <a:cs typeface="Rubik"/>
              <a:sym typeface="Rubik"/>
            </a:endParaRPr>
          </a:p>
          <a:p>
            <a:pPr indent="0" lvl="0" marL="0" rtl="0" algn="just">
              <a:lnSpc>
                <a:spcPct val="115000"/>
              </a:lnSpc>
              <a:spcBef>
                <a:spcPts val="1200"/>
              </a:spcBef>
              <a:spcAft>
                <a:spcPts val="0"/>
              </a:spcAft>
              <a:buClr>
                <a:schemeClr val="dk1"/>
              </a:buClr>
              <a:buSzPts val="1100"/>
              <a:buFont typeface="Arial"/>
              <a:buNone/>
            </a:pPr>
            <a:r>
              <a:rPr lang="en" sz="1200">
                <a:latin typeface="Rubik"/>
                <a:ea typeface="Rubik"/>
                <a:cs typeface="Rubik"/>
                <a:sym typeface="Rubik"/>
              </a:rPr>
              <a:t>  Melalui proyek analisis data ini, perusahaan bertujuan mengubah data mentah menjadi wawasan yang dapat meningkatkan produktivitas dan efisiensi operasional. Fokus utamanya meliputi pemantauan kinerja produk dan apotek, pemahaman tren penjualan, serta optimalisasi pengendalian persediaan. Dengan analisis yang lebih baik, Kimia Farma dapat meningkatkan daya saing, mengambil keputusan strategis yang lebih tepat, dan memberikan layanan yang lebih efisien kepada konsumen.</a:t>
            </a:r>
            <a:r>
              <a:rPr lang="en" sz="1200" u="sng">
                <a:solidFill>
                  <a:schemeClr val="hlink"/>
                </a:solidFill>
                <a:latin typeface="Rubik"/>
                <a:ea typeface="Rubik"/>
                <a:cs typeface="Rubik"/>
                <a:sym typeface="Rubik"/>
                <a:hlinkClick r:id="rId5"/>
              </a:rPr>
              <a:t> Video Presentasi</a:t>
            </a:r>
            <a:endParaRPr sz="1200">
              <a:latin typeface="Rubik"/>
              <a:ea typeface="Rubik"/>
              <a:cs typeface="Rubik"/>
              <a:sym typeface="Rubik"/>
            </a:endParaRPr>
          </a:p>
          <a:p>
            <a:pPr indent="0" lvl="0" marL="0" marR="0" rtl="0" algn="just">
              <a:lnSpc>
                <a:spcPct val="150000"/>
              </a:lnSpc>
              <a:spcBef>
                <a:spcPts val="1200"/>
              </a:spcBef>
              <a:spcAft>
                <a:spcPts val="0"/>
              </a:spcAft>
              <a:buClr>
                <a:schemeClr val="dk1"/>
              </a:buClr>
              <a:buSzPts val="1100"/>
              <a:buFont typeface="Arial"/>
              <a:buNone/>
            </a:pPr>
            <a:r>
              <a:t/>
            </a:r>
            <a:endParaRPr sz="1200">
              <a:latin typeface="Rubik"/>
              <a:ea typeface="Rubik"/>
              <a:cs typeface="Rubik"/>
              <a:sym typeface="Rubik"/>
            </a:endParaRPr>
          </a:p>
        </p:txBody>
      </p:sp>
      <p:sp>
        <p:nvSpPr>
          <p:cNvPr id="103" name="Google Shape;103;g265ee868302_0_99"/>
          <p:cNvSpPr txBox="1"/>
          <p:nvPr/>
        </p:nvSpPr>
        <p:spPr>
          <a:xfrm>
            <a:off x="279150" y="133013"/>
            <a:ext cx="8463000" cy="646500"/>
          </a:xfrm>
          <a:prstGeom prst="rect">
            <a:avLst/>
          </a:prstGeom>
          <a:noFill/>
          <a:ln>
            <a:noFill/>
          </a:ln>
          <a:effectLst>
            <a:outerShdw blurRad="57150" rotWithShape="0" algn="bl" dir="2820000" dist="19050">
              <a:srgbClr val="B7B7B7">
                <a:alpha val="85098"/>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000"/>
              <a:buFont typeface="Arial"/>
              <a:buNone/>
            </a:pPr>
            <a:r>
              <a:rPr b="1" i="0" lang="en" sz="3000" u="none" cap="none" strike="noStrike">
                <a:solidFill>
                  <a:srgbClr val="000000"/>
                </a:solidFill>
                <a:latin typeface="Rubik"/>
                <a:ea typeface="Rubik"/>
                <a:cs typeface="Rubik"/>
                <a:sym typeface="Rubik"/>
              </a:rPr>
              <a:t>Project </a:t>
            </a:r>
            <a:r>
              <a:rPr b="1" i="0" lang="en" sz="3000" u="none" cap="none" strike="noStrike">
                <a:solidFill>
                  <a:schemeClr val="accent5"/>
                </a:solidFill>
                <a:latin typeface="Rubik"/>
                <a:ea typeface="Rubik"/>
                <a:cs typeface="Rubik"/>
                <a:sym typeface="Rubik"/>
              </a:rPr>
              <a:t>Portfolio</a:t>
            </a:r>
            <a:endParaRPr b="1" i="0" sz="3000" u="none" cap="none" strike="noStrike">
              <a:solidFill>
                <a:schemeClr val="accent5"/>
              </a:solidFill>
              <a:latin typeface="Rubik"/>
              <a:ea typeface="Rubik"/>
              <a:cs typeface="Rubik"/>
              <a:sym typeface="Rubik"/>
            </a:endParaRPr>
          </a:p>
        </p:txBody>
      </p:sp>
      <p:sp>
        <p:nvSpPr>
          <p:cNvPr id="104" name="Google Shape;104;g265ee868302_0_99"/>
          <p:cNvSpPr txBox="1"/>
          <p:nvPr/>
        </p:nvSpPr>
        <p:spPr>
          <a:xfrm>
            <a:off x="340500" y="3119625"/>
            <a:ext cx="7224300" cy="137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t>Pada proyek ini, ada beberapa dataset yang digunakan yaitu:</a:t>
            </a:r>
            <a:endParaRPr sz="1200"/>
          </a:p>
          <a:p>
            <a:pPr indent="-304800" lvl="0" marL="457200" rtl="0" algn="l">
              <a:lnSpc>
                <a:spcPct val="115000"/>
              </a:lnSpc>
              <a:spcBef>
                <a:spcPts val="1200"/>
              </a:spcBef>
              <a:spcAft>
                <a:spcPts val="0"/>
              </a:spcAft>
              <a:buSzPts val="1200"/>
              <a:buChar char="●"/>
            </a:pPr>
            <a:r>
              <a:rPr lang="en" sz="1200"/>
              <a:t>Kf_final_transaction.csv: Data mencakup transaksi penjualan Kimia Farma</a:t>
            </a:r>
            <a:endParaRPr sz="1200"/>
          </a:p>
          <a:p>
            <a:pPr indent="-304800" lvl="0" marL="457200" rtl="0" algn="l">
              <a:lnSpc>
                <a:spcPct val="115000"/>
              </a:lnSpc>
              <a:spcBef>
                <a:spcPts val="0"/>
              </a:spcBef>
              <a:spcAft>
                <a:spcPts val="0"/>
              </a:spcAft>
              <a:buSzPts val="1200"/>
              <a:buChar char="●"/>
            </a:pPr>
            <a:r>
              <a:rPr lang="en" sz="1200"/>
              <a:t>kf_inventory.csv</a:t>
            </a:r>
            <a:r>
              <a:rPr lang="en" sz="1200"/>
              <a:t> : Data mencakup inventory pada Kimia Farma</a:t>
            </a:r>
            <a:endParaRPr sz="1200"/>
          </a:p>
          <a:p>
            <a:pPr indent="-304800" lvl="0" marL="457200" rtl="0" algn="l">
              <a:lnSpc>
                <a:spcPct val="115000"/>
              </a:lnSpc>
              <a:spcBef>
                <a:spcPts val="0"/>
              </a:spcBef>
              <a:spcAft>
                <a:spcPts val="0"/>
              </a:spcAft>
              <a:buSzPts val="1200"/>
              <a:buChar char="●"/>
            </a:pPr>
            <a:r>
              <a:rPr lang="en" sz="1200"/>
              <a:t>kf_kantor_cabang.csv:</a:t>
            </a:r>
            <a:r>
              <a:rPr lang="en" sz="1200"/>
              <a:t> Data mencakup data cabang Kimia Farma di Indonesia</a:t>
            </a:r>
            <a:endParaRPr sz="1200"/>
          </a:p>
          <a:p>
            <a:pPr indent="-304800" lvl="0" marL="457200" rtl="0" algn="l">
              <a:lnSpc>
                <a:spcPct val="115000"/>
              </a:lnSpc>
              <a:spcBef>
                <a:spcPts val="0"/>
              </a:spcBef>
              <a:spcAft>
                <a:spcPts val="0"/>
              </a:spcAft>
              <a:buSzPts val="1200"/>
              <a:buChar char="●"/>
            </a:pPr>
            <a:r>
              <a:rPr lang="en" sz="1200"/>
              <a:t>kf_product.csv:</a:t>
            </a:r>
            <a:r>
              <a:rPr lang="en" sz="1200"/>
              <a:t> Data Mencakup produk apa saja yang terdapat di Kimia Farma</a:t>
            </a:r>
            <a:endParaRPr sz="1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aa5069c7bc_0_16"/>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10" name="Google Shape;110;g3aa5069c7bc_0_16"/>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111" name="Google Shape;111;g3aa5069c7bc_0_16"/>
          <p:cNvSpPr txBox="1"/>
          <p:nvPr/>
        </p:nvSpPr>
        <p:spPr>
          <a:xfrm>
            <a:off x="763275" y="917650"/>
            <a:ext cx="7224300" cy="6465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chemeClr val="dk1"/>
              </a:buClr>
              <a:buSzPts val="1100"/>
              <a:buFont typeface="Arial"/>
              <a:buNone/>
            </a:pPr>
            <a:r>
              <a:rPr lang="en" sz="1200">
                <a:latin typeface="Rubik"/>
                <a:ea typeface="Rubik"/>
                <a:cs typeface="Rubik"/>
                <a:sym typeface="Rubik"/>
              </a:rPr>
              <a:t>Dataset ini adalah dataset yang mencakup data transaksi. Adapun kolom yang terdapat di dataset ini yaitu:</a:t>
            </a:r>
            <a:endParaRPr sz="1200">
              <a:latin typeface="Rubik"/>
              <a:ea typeface="Rubik"/>
              <a:cs typeface="Rubik"/>
              <a:sym typeface="Rubik"/>
            </a:endParaRPr>
          </a:p>
        </p:txBody>
      </p:sp>
      <p:sp>
        <p:nvSpPr>
          <p:cNvPr id="112" name="Google Shape;112;g3aa5069c7bc_0_16"/>
          <p:cNvSpPr txBox="1"/>
          <p:nvPr/>
        </p:nvSpPr>
        <p:spPr>
          <a:xfrm>
            <a:off x="254500" y="332638"/>
            <a:ext cx="8463000" cy="585000"/>
          </a:xfrm>
          <a:prstGeom prst="rect">
            <a:avLst/>
          </a:prstGeom>
          <a:noFill/>
          <a:ln>
            <a:noFill/>
          </a:ln>
          <a:effectLst>
            <a:outerShdw blurRad="57150" rotWithShape="0" algn="bl" dir="2820000" dist="19050">
              <a:srgbClr val="B7B7B7">
                <a:alpha val="85100"/>
              </a:srgbClr>
            </a:outerShdw>
          </a:effectLst>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rgbClr val="019FAB"/>
              </a:buClr>
              <a:buSzPts val="2600"/>
              <a:buFont typeface="Rubik"/>
              <a:buAutoNum type="arabicPeriod"/>
            </a:pPr>
            <a:r>
              <a:rPr b="1" lang="en" sz="2600">
                <a:solidFill>
                  <a:srgbClr val="019FAB"/>
                </a:solidFill>
                <a:latin typeface="Rubik"/>
                <a:ea typeface="Rubik"/>
                <a:cs typeface="Rubik"/>
                <a:sym typeface="Rubik"/>
              </a:rPr>
              <a:t>kf_final_transaction</a:t>
            </a:r>
            <a:endParaRPr b="1" i="0" sz="2600" u="none" cap="none" strike="noStrike">
              <a:solidFill>
                <a:srgbClr val="019FAB"/>
              </a:solidFill>
              <a:latin typeface="Rubik"/>
              <a:ea typeface="Rubik"/>
              <a:cs typeface="Rubik"/>
              <a:sym typeface="Rubik"/>
            </a:endParaRPr>
          </a:p>
        </p:txBody>
      </p:sp>
      <p:sp>
        <p:nvSpPr>
          <p:cNvPr id="113" name="Google Shape;113;g3aa5069c7bc_0_16"/>
          <p:cNvSpPr txBox="1"/>
          <p:nvPr/>
        </p:nvSpPr>
        <p:spPr>
          <a:xfrm>
            <a:off x="763275" y="1564150"/>
            <a:ext cx="2069100" cy="10065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SzPts val="1200"/>
              <a:buChar char="●"/>
            </a:pPr>
            <a:r>
              <a:rPr lang="en" sz="1200"/>
              <a:t>transaction_id</a:t>
            </a:r>
            <a:endParaRPr sz="1200"/>
          </a:p>
          <a:p>
            <a:pPr indent="-304800" lvl="0" marL="457200" rtl="0" algn="l">
              <a:lnSpc>
                <a:spcPct val="115000"/>
              </a:lnSpc>
              <a:spcBef>
                <a:spcPts val="0"/>
              </a:spcBef>
              <a:spcAft>
                <a:spcPts val="0"/>
              </a:spcAft>
              <a:buSzPts val="1200"/>
              <a:buChar char="●"/>
            </a:pPr>
            <a:r>
              <a:rPr lang="en" sz="1200"/>
              <a:t>date</a:t>
            </a:r>
            <a:endParaRPr sz="1200"/>
          </a:p>
          <a:p>
            <a:pPr indent="-304800" lvl="0" marL="457200" rtl="0" algn="l">
              <a:lnSpc>
                <a:spcPct val="115000"/>
              </a:lnSpc>
              <a:spcBef>
                <a:spcPts val="0"/>
              </a:spcBef>
              <a:spcAft>
                <a:spcPts val="0"/>
              </a:spcAft>
              <a:buSzPts val="1200"/>
              <a:buChar char="●"/>
            </a:pPr>
            <a:r>
              <a:rPr lang="en" sz="1200"/>
              <a:t>branch_id</a:t>
            </a:r>
            <a:endParaRPr sz="1200"/>
          </a:p>
          <a:p>
            <a:pPr indent="-304800" lvl="0" marL="457200" rtl="0" algn="l">
              <a:lnSpc>
                <a:spcPct val="115000"/>
              </a:lnSpc>
              <a:spcBef>
                <a:spcPts val="0"/>
              </a:spcBef>
              <a:spcAft>
                <a:spcPts val="0"/>
              </a:spcAft>
              <a:buSzPts val="1200"/>
              <a:buChar char="●"/>
            </a:pPr>
            <a:r>
              <a:rPr lang="en" sz="1200"/>
              <a:t>c</a:t>
            </a:r>
            <a:r>
              <a:rPr lang="en" sz="1200"/>
              <a:t>ustomer_name</a:t>
            </a:r>
            <a:endParaRPr sz="1200"/>
          </a:p>
        </p:txBody>
      </p:sp>
      <p:sp>
        <p:nvSpPr>
          <p:cNvPr id="114" name="Google Shape;114;g3aa5069c7bc_0_16"/>
          <p:cNvSpPr txBox="1"/>
          <p:nvPr/>
        </p:nvSpPr>
        <p:spPr>
          <a:xfrm>
            <a:off x="4572000" y="1634625"/>
            <a:ext cx="2069100" cy="10065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SzPts val="1200"/>
              <a:buChar char="●"/>
            </a:pPr>
            <a:r>
              <a:rPr lang="en" sz="1200"/>
              <a:t>p</a:t>
            </a:r>
            <a:r>
              <a:rPr lang="en" sz="1200"/>
              <a:t>roduct_id</a:t>
            </a:r>
            <a:endParaRPr sz="1200"/>
          </a:p>
          <a:p>
            <a:pPr indent="-304800" lvl="0" marL="457200" rtl="0" algn="l">
              <a:lnSpc>
                <a:spcPct val="115000"/>
              </a:lnSpc>
              <a:spcBef>
                <a:spcPts val="0"/>
              </a:spcBef>
              <a:spcAft>
                <a:spcPts val="0"/>
              </a:spcAft>
              <a:buSzPts val="1200"/>
              <a:buChar char="●"/>
            </a:pPr>
            <a:r>
              <a:rPr lang="en" sz="1200"/>
              <a:t>p</a:t>
            </a:r>
            <a:r>
              <a:rPr lang="en" sz="1200"/>
              <a:t>rice</a:t>
            </a:r>
            <a:endParaRPr sz="1200"/>
          </a:p>
          <a:p>
            <a:pPr indent="-304800" lvl="0" marL="457200" rtl="0" algn="l">
              <a:lnSpc>
                <a:spcPct val="115000"/>
              </a:lnSpc>
              <a:spcBef>
                <a:spcPts val="0"/>
              </a:spcBef>
              <a:spcAft>
                <a:spcPts val="0"/>
              </a:spcAft>
              <a:buSzPts val="1200"/>
              <a:buChar char="●"/>
            </a:pPr>
            <a:r>
              <a:rPr lang="en" sz="1200"/>
              <a:t>d</a:t>
            </a:r>
            <a:r>
              <a:rPr lang="en" sz="1200"/>
              <a:t>iscount_percent</a:t>
            </a:r>
            <a:endParaRPr sz="1200"/>
          </a:p>
          <a:p>
            <a:pPr indent="-304800" lvl="0" marL="457200" rtl="0" algn="l">
              <a:lnSpc>
                <a:spcPct val="115000"/>
              </a:lnSpc>
              <a:spcBef>
                <a:spcPts val="0"/>
              </a:spcBef>
              <a:spcAft>
                <a:spcPts val="0"/>
              </a:spcAft>
              <a:buSzPts val="1200"/>
              <a:buChar char="●"/>
            </a:pPr>
            <a:r>
              <a:rPr lang="en" sz="1200"/>
              <a:t>rating</a:t>
            </a:r>
            <a:endParaRPr sz="1200"/>
          </a:p>
        </p:txBody>
      </p:sp>
      <p:pic>
        <p:nvPicPr>
          <p:cNvPr id="115" name="Google Shape;115;g3aa5069c7bc_0_16"/>
          <p:cNvPicPr preferRelativeResize="0"/>
          <p:nvPr/>
        </p:nvPicPr>
        <p:blipFill>
          <a:blip r:embed="rId5">
            <a:alphaModFix/>
          </a:blip>
          <a:stretch>
            <a:fillRect/>
          </a:stretch>
        </p:blipFill>
        <p:spPr>
          <a:xfrm>
            <a:off x="809200" y="2641125"/>
            <a:ext cx="7353599" cy="2076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g3aa5069c7bc_0_26"/>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21" name="Google Shape;121;g3aa5069c7bc_0_26"/>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122" name="Google Shape;122;g3aa5069c7bc_0_26"/>
          <p:cNvSpPr txBox="1"/>
          <p:nvPr/>
        </p:nvSpPr>
        <p:spPr>
          <a:xfrm>
            <a:off x="763275" y="917650"/>
            <a:ext cx="7224300" cy="6465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chemeClr val="dk1"/>
              </a:buClr>
              <a:buSzPts val="1100"/>
              <a:buFont typeface="Arial"/>
              <a:buNone/>
            </a:pPr>
            <a:r>
              <a:rPr lang="en" sz="1200">
                <a:latin typeface="Rubik"/>
                <a:ea typeface="Rubik"/>
                <a:cs typeface="Rubik"/>
                <a:sym typeface="Rubik"/>
              </a:rPr>
              <a:t>Dataset ini adalah dataset yang mencakup data inventory. Adapun kolom yang terdapat di dataset ini yaitu:</a:t>
            </a:r>
            <a:endParaRPr sz="1200">
              <a:latin typeface="Rubik"/>
              <a:ea typeface="Rubik"/>
              <a:cs typeface="Rubik"/>
              <a:sym typeface="Rubik"/>
            </a:endParaRPr>
          </a:p>
        </p:txBody>
      </p:sp>
      <p:sp>
        <p:nvSpPr>
          <p:cNvPr id="123" name="Google Shape;123;g3aa5069c7bc_0_26"/>
          <p:cNvSpPr txBox="1"/>
          <p:nvPr/>
        </p:nvSpPr>
        <p:spPr>
          <a:xfrm>
            <a:off x="254500" y="332638"/>
            <a:ext cx="8463000" cy="585000"/>
          </a:xfrm>
          <a:prstGeom prst="rect">
            <a:avLst/>
          </a:prstGeom>
          <a:noFill/>
          <a:ln>
            <a:noFill/>
          </a:ln>
          <a:effectLst>
            <a:outerShdw blurRad="57150" rotWithShape="0" algn="bl" dir="2820000" dist="19050">
              <a:srgbClr val="B7B7B7">
                <a:alpha val="85100"/>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n" sz="2600">
                <a:solidFill>
                  <a:srgbClr val="019FAB"/>
                </a:solidFill>
                <a:latin typeface="Rubik"/>
                <a:ea typeface="Rubik"/>
                <a:cs typeface="Rubik"/>
                <a:sym typeface="Rubik"/>
              </a:rPr>
              <a:t>2.   </a:t>
            </a:r>
            <a:r>
              <a:rPr b="1" lang="en" sz="2600">
                <a:solidFill>
                  <a:srgbClr val="019FAB"/>
                </a:solidFill>
                <a:latin typeface="Rubik"/>
                <a:ea typeface="Rubik"/>
                <a:cs typeface="Rubik"/>
                <a:sym typeface="Rubik"/>
              </a:rPr>
              <a:t>kf_inventory</a:t>
            </a:r>
            <a:endParaRPr b="1" i="0" sz="2600" u="none" cap="none" strike="noStrike">
              <a:solidFill>
                <a:srgbClr val="019FAB"/>
              </a:solidFill>
              <a:latin typeface="Rubik"/>
              <a:ea typeface="Rubik"/>
              <a:cs typeface="Rubik"/>
              <a:sym typeface="Rubik"/>
            </a:endParaRPr>
          </a:p>
        </p:txBody>
      </p:sp>
      <p:sp>
        <p:nvSpPr>
          <p:cNvPr id="124" name="Google Shape;124;g3aa5069c7bc_0_26"/>
          <p:cNvSpPr txBox="1"/>
          <p:nvPr/>
        </p:nvSpPr>
        <p:spPr>
          <a:xfrm>
            <a:off x="809200" y="1446725"/>
            <a:ext cx="2069100" cy="10065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SzPts val="1200"/>
              <a:buChar char="●"/>
            </a:pPr>
            <a:r>
              <a:rPr lang="en" sz="1200"/>
              <a:t>Inventory_ID</a:t>
            </a:r>
            <a:endParaRPr sz="1200"/>
          </a:p>
          <a:p>
            <a:pPr indent="-304800" lvl="0" marL="457200" rtl="0" algn="l">
              <a:lnSpc>
                <a:spcPct val="115000"/>
              </a:lnSpc>
              <a:spcBef>
                <a:spcPts val="0"/>
              </a:spcBef>
              <a:spcAft>
                <a:spcPts val="0"/>
              </a:spcAft>
              <a:buSzPts val="1200"/>
              <a:buChar char="●"/>
            </a:pPr>
            <a:r>
              <a:rPr lang="en" sz="1200"/>
              <a:t>branc</a:t>
            </a:r>
            <a:r>
              <a:rPr lang="en" sz="1200"/>
              <a:t>h_id</a:t>
            </a:r>
            <a:endParaRPr sz="1200"/>
          </a:p>
          <a:p>
            <a:pPr indent="-304800" lvl="0" marL="457200" rtl="0" algn="l">
              <a:lnSpc>
                <a:spcPct val="115000"/>
              </a:lnSpc>
              <a:spcBef>
                <a:spcPts val="0"/>
              </a:spcBef>
              <a:spcAft>
                <a:spcPts val="0"/>
              </a:spcAft>
              <a:buClr>
                <a:schemeClr val="dk1"/>
              </a:buClr>
              <a:buSzPts val="1200"/>
              <a:buChar char="●"/>
            </a:pPr>
            <a:r>
              <a:rPr lang="en" sz="1200">
                <a:solidFill>
                  <a:schemeClr val="dk1"/>
                </a:solidFill>
              </a:rPr>
              <a:t>product_id</a:t>
            </a:r>
            <a:endParaRPr sz="1200">
              <a:solidFill>
                <a:schemeClr val="dk1"/>
              </a:solidFill>
            </a:endParaRPr>
          </a:p>
          <a:p>
            <a:pPr indent="-304800" lvl="0" marL="457200" rtl="0" algn="l">
              <a:lnSpc>
                <a:spcPct val="115000"/>
              </a:lnSpc>
              <a:spcBef>
                <a:spcPts val="0"/>
              </a:spcBef>
              <a:spcAft>
                <a:spcPts val="0"/>
              </a:spcAft>
              <a:buSzPts val="1200"/>
              <a:buChar char="●"/>
            </a:pPr>
            <a:r>
              <a:rPr lang="en" sz="1200"/>
              <a:t>product_name</a:t>
            </a:r>
            <a:endParaRPr sz="1200"/>
          </a:p>
        </p:txBody>
      </p:sp>
      <p:sp>
        <p:nvSpPr>
          <p:cNvPr id="125" name="Google Shape;125;g3aa5069c7bc_0_26"/>
          <p:cNvSpPr txBox="1"/>
          <p:nvPr/>
        </p:nvSpPr>
        <p:spPr>
          <a:xfrm>
            <a:off x="4172750" y="1446725"/>
            <a:ext cx="2069100" cy="3693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SzPts val="1200"/>
              <a:buChar char="●"/>
            </a:pPr>
            <a:r>
              <a:rPr lang="en" sz="1200"/>
              <a:t>opname_stock</a:t>
            </a:r>
            <a:endParaRPr sz="1200"/>
          </a:p>
        </p:txBody>
      </p:sp>
      <p:pic>
        <p:nvPicPr>
          <p:cNvPr id="126" name="Google Shape;126;g3aa5069c7bc_0_26"/>
          <p:cNvPicPr preferRelativeResize="0"/>
          <p:nvPr/>
        </p:nvPicPr>
        <p:blipFill>
          <a:blip r:embed="rId5">
            <a:alphaModFix/>
          </a:blip>
          <a:stretch>
            <a:fillRect/>
          </a:stretch>
        </p:blipFill>
        <p:spPr>
          <a:xfrm>
            <a:off x="866999" y="2453225"/>
            <a:ext cx="6742724" cy="2413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g3aa9153eee5_0_1"/>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32" name="Google Shape;132;g3aa9153eee5_0_1"/>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133" name="Google Shape;133;g3aa9153eee5_0_1"/>
          <p:cNvSpPr txBox="1"/>
          <p:nvPr/>
        </p:nvSpPr>
        <p:spPr>
          <a:xfrm>
            <a:off x="763275" y="917650"/>
            <a:ext cx="7224300" cy="6465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chemeClr val="dk1"/>
              </a:buClr>
              <a:buSzPts val="1100"/>
              <a:buFont typeface="Arial"/>
              <a:buNone/>
            </a:pPr>
            <a:r>
              <a:rPr lang="en" sz="1200">
                <a:latin typeface="Rubik"/>
                <a:ea typeface="Rubik"/>
                <a:cs typeface="Rubik"/>
                <a:sym typeface="Rubik"/>
              </a:rPr>
              <a:t>Dataset ini adalah dataset yang mencakup data kantor cabang di Indonesia.  Adapun kolom yang terdapat di dataset ini yaitu:</a:t>
            </a:r>
            <a:endParaRPr sz="1200">
              <a:latin typeface="Rubik"/>
              <a:ea typeface="Rubik"/>
              <a:cs typeface="Rubik"/>
              <a:sym typeface="Rubik"/>
            </a:endParaRPr>
          </a:p>
        </p:txBody>
      </p:sp>
      <p:sp>
        <p:nvSpPr>
          <p:cNvPr id="134" name="Google Shape;134;g3aa9153eee5_0_1"/>
          <p:cNvSpPr txBox="1"/>
          <p:nvPr/>
        </p:nvSpPr>
        <p:spPr>
          <a:xfrm>
            <a:off x="254500" y="332638"/>
            <a:ext cx="8463000" cy="585000"/>
          </a:xfrm>
          <a:prstGeom prst="rect">
            <a:avLst/>
          </a:prstGeom>
          <a:noFill/>
          <a:ln>
            <a:noFill/>
          </a:ln>
          <a:effectLst>
            <a:outerShdw blurRad="57150" rotWithShape="0" algn="bl" dir="2820000" dist="19050">
              <a:srgbClr val="B7B7B7">
                <a:alpha val="85100"/>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n" sz="2600">
                <a:solidFill>
                  <a:srgbClr val="019FAB"/>
                </a:solidFill>
                <a:latin typeface="Rubik"/>
                <a:ea typeface="Rubik"/>
                <a:cs typeface="Rubik"/>
                <a:sym typeface="Rubik"/>
              </a:rPr>
              <a:t>3</a:t>
            </a:r>
            <a:r>
              <a:rPr b="1" lang="en" sz="2600">
                <a:solidFill>
                  <a:srgbClr val="019FAB"/>
                </a:solidFill>
                <a:latin typeface="Rubik"/>
                <a:ea typeface="Rubik"/>
                <a:cs typeface="Rubik"/>
                <a:sym typeface="Rubik"/>
              </a:rPr>
              <a:t>.   kf_kantor_cabang</a:t>
            </a:r>
            <a:endParaRPr b="1" i="0" sz="2600" u="none" cap="none" strike="noStrike">
              <a:solidFill>
                <a:srgbClr val="019FAB"/>
              </a:solidFill>
              <a:latin typeface="Rubik"/>
              <a:ea typeface="Rubik"/>
              <a:cs typeface="Rubik"/>
              <a:sym typeface="Rubik"/>
            </a:endParaRPr>
          </a:p>
        </p:txBody>
      </p:sp>
      <p:sp>
        <p:nvSpPr>
          <p:cNvPr id="135" name="Google Shape;135;g3aa9153eee5_0_1"/>
          <p:cNvSpPr txBox="1"/>
          <p:nvPr/>
        </p:nvSpPr>
        <p:spPr>
          <a:xfrm>
            <a:off x="809200" y="1446725"/>
            <a:ext cx="2069100" cy="10065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SzPts val="1200"/>
              <a:buChar char="●"/>
            </a:pPr>
            <a:r>
              <a:rPr lang="en" sz="1200"/>
              <a:t>branch_id</a:t>
            </a:r>
            <a:endParaRPr sz="1200"/>
          </a:p>
          <a:p>
            <a:pPr indent="-304800" lvl="0" marL="457200" rtl="0" algn="l">
              <a:lnSpc>
                <a:spcPct val="115000"/>
              </a:lnSpc>
              <a:spcBef>
                <a:spcPts val="0"/>
              </a:spcBef>
              <a:spcAft>
                <a:spcPts val="0"/>
              </a:spcAft>
              <a:buClr>
                <a:schemeClr val="dk1"/>
              </a:buClr>
              <a:buSzPts val="1200"/>
              <a:buChar char="●"/>
            </a:pPr>
            <a:r>
              <a:rPr lang="en" sz="1200">
                <a:solidFill>
                  <a:schemeClr val="dk1"/>
                </a:solidFill>
              </a:rPr>
              <a:t>branch_category</a:t>
            </a:r>
            <a:endParaRPr sz="1200">
              <a:solidFill>
                <a:schemeClr val="dk1"/>
              </a:solidFill>
            </a:endParaRPr>
          </a:p>
          <a:p>
            <a:pPr indent="-304800" lvl="0" marL="457200" rtl="0" algn="l">
              <a:lnSpc>
                <a:spcPct val="115000"/>
              </a:lnSpc>
              <a:spcBef>
                <a:spcPts val="0"/>
              </a:spcBef>
              <a:spcAft>
                <a:spcPts val="0"/>
              </a:spcAft>
              <a:buSzPts val="1200"/>
              <a:buChar char="●"/>
            </a:pPr>
            <a:r>
              <a:rPr lang="en" sz="1200"/>
              <a:t>branch_name</a:t>
            </a:r>
            <a:endParaRPr sz="1200"/>
          </a:p>
          <a:p>
            <a:pPr indent="-304800" lvl="0" marL="457200" rtl="0" algn="l">
              <a:lnSpc>
                <a:spcPct val="115000"/>
              </a:lnSpc>
              <a:spcBef>
                <a:spcPts val="0"/>
              </a:spcBef>
              <a:spcAft>
                <a:spcPts val="0"/>
              </a:spcAft>
              <a:buSzPts val="1200"/>
              <a:buChar char="●"/>
            </a:pPr>
            <a:r>
              <a:rPr lang="en" sz="1200"/>
              <a:t>kota</a:t>
            </a:r>
            <a:endParaRPr sz="1200"/>
          </a:p>
        </p:txBody>
      </p:sp>
      <p:sp>
        <p:nvSpPr>
          <p:cNvPr id="136" name="Google Shape;136;g3aa9153eee5_0_1"/>
          <p:cNvSpPr txBox="1"/>
          <p:nvPr/>
        </p:nvSpPr>
        <p:spPr>
          <a:xfrm>
            <a:off x="4172750" y="1446725"/>
            <a:ext cx="2069100" cy="5817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SzPts val="1200"/>
              <a:buChar char="●"/>
            </a:pPr>
            <a:r>
              <a:rPr lang="en" sz="1200"/>
              <a:t>provinsi</a:t>
            </a:r>
            <a:endParaRPr sz="1200"/>
          </a:p>
          <a:p>
            <a:pPr indent="-304800" lvl="0" marL="457200" rtl="0" algn="l">
              <a:lnSpc>
                <a:spcPct val="115000"/>
              </a:lnSpc>
              <a:spcBef>
                <a:spcPts val="0"/>
              </a:spcBef>
              <a:spcAft>
                <a:spcPts val="0"/>
              </a:spcAft>
              <a:buSzPts val="1200"/>
              <a:buChar char="●"/>
            </a:pPr>
            <a:r>
              <a:rPr lang="en" sz="1200"/>
              <a:t>rating</a:t>
            </a:r>
            <a:endParaRPr sz="1200"/>
          </a:p>
        </p:txBody>
      </p:sp>
      <p:pic>
        <p:nvPicPr>
          <p:cNvPr id="137" name="Google Shape;137;g3aa9153eee5_0_1"/>
          <p:cNvPicPr preferRelativeResize="0"/>
          <p:nvPr/>
        </p:nvPicPr>
        <p:blipFill>
          <a:blip r:embed="rId5">
            <a:alphaModFix/>
          </a:blip>
          <a:stretch>
            <a:fillRect/>
          </a:stretch>
        </p:blipFill>
        <p:spPr>
          <a:xfrm>
            <a:off x="873849" y="2453225"/>
            <a:ext cx="7224300" cy="22415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g3aa9153eee5_0_12"/>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43" name="Google Shape;143;g3aa9153eee5_0_12"/>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144" name="Google Shape;144;g3aa9153eee5_0_12"/>
          <p:cNvSpPr txBox="1"/>
          <p:nvPr/>
        </p:nvSpPr>
        <p:spPr>
          <a:xfrm>
            <a:off x="763275" y="917650"/>
            <a:ext cx="7224300" cy="6465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chemeClr val="dk1"/>
              </a:buClr>
              <a:buSzPts val="1100"/>
              <a:buFont typeface="Arial"/>
              <a:buNone/>
            </a:pPr>
            <a:r>
              <a:rPr lang="en" sz="1200">
                <a:latin typeface="Rubik"/>
                <a:ea typeface="Rubik"/>
                <a:cs typeface="Rubik"/>
                <a:sym typeface="Rubik"/>
              </a:rPr>
              <a:t>Dataset ini adalah dataset yang mencakup data produk yang dijual. Adapun kolom yang terdapat di dataset ini yaitu:</a:t>
            </a:r>
            <a:endParaRPr sz="1200">
              <a:latin typeface="Rubik"/>
              <a:ea typeface="Rubik"/>
              <a:cs typeface="Rubik"/>
              <a:sym typeface="Rubik"/>
            </a:endParaRPr>
          </a:p>
        </p:txBody>
      </p:sp>
      <p:sp>
        <p:nvSpPr>
          <p:cNvPr id="145" name="Google Shape;145;g3aa9153eee5_0_12"/>
          <p:cNvSpPr txBox="1"/>
          <p:nvPr/>
        </p:nvSpPr>
        <p:spPr>
          <a:xfrm>
            <a:off x="254500" y="332638"/>
            <a:ext cx="8463000" cy="585000"/>
          </a:xfrm>
          <a:prstGeom prst="rect">
            <a:avLst/>
          </a:prstGeom>
          <a:noFill/>
          <a:ln>
            <a:noFill/>
          </a:ln>
          <a:effectLst>
            <a:outerShdw blurRad="57150" rotWithShape="0" algn="bl" dir="2820000" dist="19050">
              <a:srgbClr val="B7B7B7">
                <a:alpha val="85100"/>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n" sz="2600">
                <a:solidFill>
                  <a:srgbClr val="019FAB"/>
                </a:solidFill>
                <a:latin typeface="Rubik"/>
                <a:ea typeface="Rubik"/>
                <a:cs typeface="Rubik"/>
                <a:sym typeface="Rubik"/>
              </a:rPr>
              <a:t>4</a:t>
            </a:r>
            <a:r>
              <a:rPr b="1" lang="en" sz="2600">
                <a:solidFill>
                  <a:srgbClr val="019FAB"/>
                </a:solidFill>
                <a:latin typeface="Rubik"/>
                <a:ea typeface="Rubik"/>
                <a:cs typeface="Rubik"/>
                <a:sym typeface="Rubik"/>
              </a:rPr>
              <a:t>.   kf_product</a:t>
            </a:r>
            <a:endParaRPr b="1" i="0" sz="2600" u="none" cap="none" strike="noStrike">
              <a:solidFill>
                <a:srgbClr val="019FAB"/>
              </a:solidFill>
              <a:latin typeface="Rubik"/>
              <a:ea typeface="Rubik"/>
              <a:cs typeface="Rubik"/>
              <a:sym typeface="Rubik"/>
            </a:endParaRPr>
          </a:p>
        </p:txBody>
      </p:sp>
      <p:sp>
        <p:nvSpPr>
          <p:cNvPr id="146" name="Google Shape;146;g3aa9153eee5_0_12"/>
          <p:cNvSpPr txBox="1"/>
          <p:nvPr/>
        </p:nvSpPr>
        <p:spPr>
          <a:xfrm>
            <a:off x="809200" y="1446725"/>
            <a:ext cx="2069100" cy="10065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SzPts val="1200"/>
              <a:buChar char="●"/>
            </a:pPr>
            <a:r>
              <a:rPr lang="en" sz="1200"/>
              <a:t>product</a:t>
            </a:r>
            <a:r>
              <a:rPr lang="en" sz="1200"/>
              <a:t>_id</a:t>
            </a:r>
            <a:endParaRPr sz="1200"/>
          </a:p>
          <a:p>
            <a:pPr indent="-304800" lvl="0" marL="457200" rtl="0" algn="l">
              <a:lnSpc>
                <a:spcPct val="115000"/>
              </a:lnSpc>
              <a:spcBef>
                <a:spcPts val="0"/>
              </a:spcBef>
              <a:spcAft>
                <a:spcPts val="0"/>
              </a:spcAft>
              <a:buSzPts val="1200"/>
              <a:buChar char="●"/>
            </a:pPr>
            <a:r>
              <a:rPr lang="en" sz="1200"/>
              <a:t>product</a:t>
            </a:r>
            <a:r>
              <a:rPr lang="en" sz="1200"/>
              <a:t>_name</a:t>
            </a:r>
            <a:endParaRPr sz="1200"/>
          </a:p>
          <a:p>
            <a:pPr indent="-304800" lvl="0" marL="457200" rtl="0" algn="l">
              <a:lnSpc>
                <a:spcPct val="115000"/>
              </a:lnSpc>
              <a:spcBef>
                <a:spcPts val="0"/>
              </a:spcBef>
              <a:spcAft>
                <a:spcPts val="0"/>
              </a:spcAft>
              <a:buSzPts val="1200"/>
              <a:buChar char="●"/>
            </a:pPr>
            <a:r>
              <a:rPr lang="en" sz="1200"/>
              <a:t>product_category</a:t>
            </a:r>
            <a:endParaRPr sz="1200"/>
          </a:p>
          <a:p>
            <a:pPr indent="-304800" lvl="0" marL="457200" rtl="0" algn="l">
              <a:lnSpc>
                <a:spcPct val="115000"/>
              </a:lnSpc>
              <a:spcBef>
                <a:spcPts val="0"/>
              </a:spcBef>
              <a:spcAft>
                <a:spcPts val="0"/>
              </a:spcAft>
              <a:buSzPts val="1200"/>
              <a:buChar char="●"/>
            </a:pPr>
            <a:r>
              <a:rPr lang="en" sz="1200"/>
              <a:t>price</a:t>
            </a:r>
            <a:endParaRPr sz="1200"/>
          </a:p>
        </p:txBody>
      </p:sp>
      <p:pic>
        <p:nvPicPr>
          <p:cNvPr id="147" name="Google Shape;147;g3aa9153eee5_0_12"/>
          <p:cNvPicPr preferRelativeResize="0"/>
          <p:nvPr/>
        </p:nvPicPr>
        <p:blipFill>
          <a:blip r:embed="rId5">
            <a:alphaModFix/>
          </a:blip>
          <a:stretch>
            <a:fillRect/>
          </a:stretch>
        </p:blipFill>
        <p:spPr>
          <a:xfrm>
            <a:off x="1059200" y="2453225"/>
            <a:ext cx="4990850" cy="22813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g23ec2985a68_1_33"/>
          <p:cNvPicPr preferRelativeResize="0"/>
          <p:nvPr/>
        </p:nvPicPr>
        <p:blipFill rotWithShape="1">
          <a:blip r:embed="rId3">
            <a:alphaModFix/>
          </a:blip>
          <a:srcRect b="5649" l="0" r="0" t="5658"/>
          <a:stretch/>
        </p:blipFill>
        <p:spPr>
          <a:xfrm>
            <a:off x="7317600" y="185625"/>
            <a:ext cx="1399902" cy="541300"/>
          </a:xfrm>
          <a:prstGeom prst="rect">
            <a:avLst/>
          </a:prstGeom>
          <a:noFill/>
          <a:ln>
            <a:noFill/>
          </a:ln>
        </p:spPr>
      </p:pic>
      <p:sp>
        <p:nvSpPr>
          <p:cNvPr id="153" name="Google Shape;153;g23ec2985a68_1_33"/>
          <p:cNvSpPr txBox="1"/>
          <p:nvPr/>
        </p:nvSpPr>
        <p:spPr>
          <a:xfrm>
            <a:off x="340500" y="156113"/>
            <a:ext cx="8463000" cy="600300"/>
          </a:xfrm>
          <a:prstGeom prst="rect">
            <a:avLst/>
          </a:prstGeom>
          <a:noFill/>
          <a:ln>
            <a:noFill/>
          </a:ln>
          <a:effectLst>
            <a:outerShdw blurRad="57150" rotWithShape="0" algn="bl" dir="2820000" dist="19050">
              <a:srgbClr val="B7B7B7">
                <a:alpha val="85098"/>
              </a:srgbClr>
            </a:outerShdw>
          </a:effectLst>
        </p:spPr>
        <p:txBody>
          <a:bodyPr anchorCtr="0" anchor="t" bIns="91425" lIns="91425" spcFirstLastPara="1" rIns="91425" wrap="square" tIns="91425">
            <a:spAutoFit/>
          </a:bodyPr>
          <a:lstStyle/>
          <a:p>
            <a:pPr indent="-400050" lvl="0" marL="457200" marR="0" rtl="0" algn="l">
              <a:lnSpc>
                <a:spcPct val="100000"/>
              </a:lnSpc>
              <a:spcBef>
                <a:spcPts val="0"/>
              </a:spcBef>
              <a:spcAft>
                <a:spcPts val="0"/>
              </a:spcAft>
              <a:buClr>
                <a:srgbClr val="000000"/>
              </a:buClr>
              <a:buSzPts val="2700"/>
              <a:buFont typeface="Rubik"/>
              <a:buAutoNum type="arabicPeriod"/>
            </a:pPr>
            <a:r>
              <a:rPr b="1" i="0" lang="en" sz="2700" u="none" cap="none" strike="noStrike">
                <a:solidFill>
                  <a:srgbClr val="000000"/>
                </a:solidFill>
                <a:latin typeface="Rubik"/>
                <a:ea typeface="Rubik"/>
                <a:cs typeface="Rubik"/>
                <a:sym typeface="Rubik"/>
              </a:rPr>
              <a:t>Importing Dataset to BigQuery</a:t>
            </a:r>
            <a:endParaRPr b="1" i="0" sz="2700" u="none" cap="none" strike="noStrike">
              <a:solidFill>
                <a:srgbClr val="000000"/>
              </a:solidFill>
              <a:latin typeface="Rubik"/>
              <a:ea typeface="Rubik"/>
              <a:cs typeface="Rubik"/>
              <a:sym typeface="Rubik"/>
            </a:endParaRPr>
          </a:p>
        </p:txBody>
      </p:sp>
      <p:sp>
        <p:nvSpPr>
          <p:cNvPr id="154" name="Google Shape;154;g23ec2985a68_1_33"/>
          <p:cNvSpPr txBox="1"/>
          <p:nvPr/>
        </p:nvSpPr>
        <p:spPr>
          <a:xfrm>
            <a:off x="2478100" y="2293167"/>
            <a:ext cx="1663500" cy="269400"/>
          </a:xfrm>
          <a:prstGeom prst="rect">
            <a:avLst/>
          </a:prstGeom>
          <a:solidFill>
            <a:schemeClr val="accent1"/>
          </a:solidFill>
          <a:ln>
            <a:noFill/>
          </a:ln>
          <a:effectLst>
            <a:outerShdw blurRad="37037" rotWithShape="0" algn="bl" dir="2820001" dist="12346">
              <a:srgbClr val="B7B7B7">
                <a:alpha val="85098"/>
              </a:srgbClr>
            </a:outerShdw>
          </a:effectLst>
        </p:spPr>
        <p:txBody>
          <a:bodyPr anchorCtr="0" anchor="t" bIns="59250" lIns="59250" spcFirstLastPara="1" rIns="59250" wrap="square" tIns="59250">
            <a:spAutoFit/>
          </a:bodyPr>
          <a:lstStyle/>
          <a:p>
            <a:pPr indent="0" lvl="0" marL="0" marR="0" rtl="0" algn="ctr">
              <a:lnSpc>
                <a:spcPct val="150000"/>
              </a:lnSpc>
              <a:spcBef>
                <a:spcPts val="0"/>
              </a:spcBef>
              <a:spcAft>
                <a:spcPts val="0"/>
              </a:spcAft>
              <a:buClr>
                <a:schemeClr val="dk1"/>
              </a:buClr>
              <a:buSzPts val="907"/>
              <a:buFont typeface="Arial"/>
              <a:buNone/>
            </a:pPr>
            <a:r>
              <a:rPr lang="en" sz="972">
                <a:solidFill>
                  <a:schemeClr val="lt1"/>
                </a:solidFill>
              </a:rPr>
              <a:t>Create Project</a:t>
            </a:r>
            <a:endParaRPr i="0" sz="972" u="none" cap="none" strike="noStrike">
              <a:solidFill>
                <a:schemeClr val="lt1"/>
              </a:solidFill>
            </a:endParaRPr>
          </a:p>
        </p:txBody>
      </p:sp>
      <p:sp>
        <p:nvSpPr>
          <p:cNvPr id="155" name="Google Shape;155;g23ec2985a68_1_33"/>
          <p:cNvSpPr txBox="1"/>
          <p:nvPr/>
        </p:nvSpPr>
        <p:spPr>
          <a:xfrm>
            <a:off x="4141561" y="2293167"/>
            <a:ext cx="1663500" cy="269400"/>
          </a:xfrm>
          <a:prstGeom prst="rect">
            <a:avLst/>
          </a:prstGeom>
          <a:solidFill>
            <a:srgbClr val="FF9900"/>
          </a:solidFill>
          <a:ln>
            <a:noFill/>
          </a:ln>
          <a:effectLst>
            <a:outerShdw blurRad="37037" rotWithShape="0" algn="bl" dir="2820000" dist="12346">
              <a:srgbClr val="B7B7B7">
                <a:alpha val="85100"/>
              </a:srgbClr>
            </a:outerShdw>
          </a:effectLst>
        </p:spPr>
        <p:txBody>
          <a:bodyPr anchorCtr="0" anchor="t" bIns="59250" lIns="59250" spcFirstLastPara="1" rIns="59250" wrap="square" tIns="59250">
            <a:spAutoFit/>
          </a:bodyPr>
          <a:lstStyle/>
          <a:p>
            <a:pPr indent="0" lvl="0" marL="0" marR="0" rtl="0" algn="ctr">
              <a:lnSpc>
                <a:spcPct val="150000"/>
              </a:lnSpc>
              <a:spcBef>
                <a:spcPts val="0"/>
              </a:spcBef>
              <a:spcAft>
                <a:spcPts val="0"/>
              </a:spcAft>
              <a:buClr>
                <a:schemeClr val="dk1"/>
              </a:buClr>
              <a:buSzPts val="907"/>
              <a:buFont typeface="Arial"/>
              <a:buNone/>
            </a:pPr>
            <a:r>
              <a:rPr lang="en" sz="972">
                <a:solidFill>
                  <a:schemeClr val="lt1"/>
                </a:solidFill>
              </a:rPr>
              <a:t>Create Dataset</a:t>
            </a:r>
            <a:endParaRPr i="0" sz="972" u="none" cap="none" strike="noStrike">
              <a:solidFill>
                <a:schemeClr val="lt1"/>
              </a:solidFill>
            </a:endParaRPr>
          </a:p>
        </p:txBody>
      </p:sp>
      <p:pic>
        <p:nvPicPr>
          <p:cNvPr id="156" name="Google Shape;156;g23ec2985a68_1_33" title="Screenshot 2025-11-27 171530.png"/>
          <p:cNvPicPr preferRelativeResize="0"/>
          <p:nvPr/>
        </p:nvPicPr>
        <p:blipFill>
          <a:blip r:embed="rId4">
            <a:alphaModFix/>
          </a:blip>
          <a:stretch>
            <a:fillRect/>
          </a:stretch>
        </p:blipFill>
        <p:spPr>
          <a:xfrm>
            <a:off x="2478100" y="726925"/>
            <a:ext cx="1663461" cy="1511446"/>
          </a:xfrm>
          <a:prstGeom prst="rect">
            <a:avLst/>
          </a:prstGeom>
          <a:noFill/>
          <a:ln>
            <a:noFill/>
          </a:ln>
        </p:spPr>
      </p:pic>
      <p:pic>
        <p:nvPicPr>
          <p:cNvPr id="157" name="Google Shape;157;g23ec2985a68_1_33" title="Screenshot 2025-11-27 171640.png"/>
          <p:cNvPicPr preferRelativeResize="0"/>
          <p:nvPr/>
        </p:nvPicPr>
        <p:blipFill>
          <a:blip r:embed="rId5">
            <a:alphaModFix/>
          </a:blip>
          <a:stretch>
            <a:fillRect/>
          </a:stretch>
        </p:blipFill>
        <p:spPr>
          <a:xfrm>
            <a:off x="4141561" y="726925"/>
            <a:ext cx="1663462" cy="1566241"/>
          </a:xfrm>
          <a:prstGeom prst="rect">
            <a:avLst/>
          </a:prstGeom>
          <a:noFill/>
          <a:ln>
            <a:noFill/>
          </a:ln>
        </p:spPr>
      </p:pic>
      <p:pic>
        <p:nvPicPr>
          <p:cNvPr id="158" name="Google Shape;158;g23ec2985a68_1_33" title="Screenshot 2025-11-27 171800.png"/>
          <p:cNvPicPr preferRelativeResize="0"/>
          <p:nvPr/>
        </p:nvPicPr>
        <p:blipFill rotWithShape="1">
          <a:blip r:embed="rId6">
            <a:alphaModFix/>
          </a:blip>
          <a:srcRect b="1584" l="0" r="31917" t="0"/>
          <a:stretch/>
        </p:blipFill>
        <p:spPr>
          <a:xfrm>
            <a:off x="2478105" y="2747683"/>
            <a:ext cx="1663531" cy="1487370"/>
          </a:xfrm>
          <a:prstGeom prst="rect">
            <a:avLst/>
          </a:prstGeom>
          <a:noFill/>
          <a:ln>
            <a:noFill/>
          </a:ln>
        </p:spPr>
      </p:pic>
      <p:sp>
        <p:nvSpPr>
          <p:cNvPr id="159" name="Google Shape;159;g23ec2985a68_1_33"/>
          <p:cNvSpPr txBox="1"/>
          <p:nvPr/>
        </p:nvSpPr>
        <p:spPr>
          <a:xfrm>
            <a:off x="4141492" y="4235046"/>
            <a:ext cx="1663500" cy="269400"/>
          </a:xfrm>
          <a:prstGeom prst="rect">
            <a:avLst/>
          </a:prstGeom>
          <a:solidFill>
            <a:schemeClr val="accent1"/>
          </a:solidFill>
          <a:ln>
            <a:noFill/>
          </a:ln>
          <a:effectLst>
            <a:outerShdw blurRad="37036" rotWithShape="0" algn="bl" dir="2820000" dist="12345">
              <a:srgbClr val="B7B7B7">
                <a:alpha val="85100"/>
              </a:srgbClr>
            </a:outerShdw>
          </a:effectLst>
        </p:spPr>
        <p:txBody>
          <a:bodyPr anchorCtr="0" anchor="t" bIns="59250" lIns="59250" spcFirstLastPara="1" rIns="59250" wrap="square" tIns="59250">
            <a:spAutoFit/>
          </a:bodyPr>
          <a:lstStyle/>
          <a:p>
            <a:pPr indent="0" lvl="0" marL="0" marR="0" rtl="0" algn="ctr">
              <a:lnSpc>
                <a:spcPct val="150000"/>
              </a:lnSpc>
              <a:spcBef>
                <a:spcPts val="0"/>
              </a:spcBef>
              <a:spcAft>
                <a:spcPts val="0"/>
              </a:spcAft>
              <a:buClr>
                <a:schemeClr val="dk1"/>
              </a:buClr>
              <a:buSzPts val="907"/>
              <a:buFont typeface="Arial"/>
              <a:buNone/>
            </a:pPr>
            <a:r>
              <a:rPr lang="en" sz="972">
                <a:solidFill>
                  <a:schemeClr val="lt1"/>
                </a:solidFill>
              </a:rPr>
              <a:t>Result of The Tables</a:t>
            </a:r>
            <a:endParaRPr i="0" sz="972" u="none" cap="none" strike="noStrike">
              <a:solidFill>
                <a:schemeClr val="lt1"/>
              </a:solidFill>
            </a:endParaRPr>
          </a:p>
        </p:txBody>
      </p:sp>
      <p:pic>
        <p:nvPicPr>
          <p:cNvPr id="160" name="Google Shape;160;g23ec2985a68_1_33" title="Screenshot 2025-11-27 171826.png"/>
          <p:cNvPicPr preferRelativeResize="0"/>
          <p:nvPr/>
        </p:nvPicPr>
        <p:blipFill rotWithShape="1">
          <a:blip r:embed="rId7">
            <a:alphaModFix/>
          </a:blip>
          <a:srcRect b="0" l="9801" r="4742" t="0"/>
          <a:stretch/>
        </p:blipFill>
        <p:spPr>
          <a:xfrm>
            <a:off x="4141639" y="2759891"/>
            <a:ext cx="1663535" cy="1475163"/>
          </a:xfrm>
          <a:prstGeom prst="rect">
            <a:avLst/>
          </a:prstGeom>
          <a:noFill/>
          <a:ln>
            <a:noFill/>
          </a:ln>
        </p:spPr>
      </p:pic>
      <p:sp>
        <p:nvSpPr>
          <p:cNvPr id="161" name="Google Shape;161;g23ec2985a68_1_33"/>
          <p:cNvSpPr txBox="1"/>
          <p:nvPr/>
        </p:nvSpPr>
        <p:spPr>
          <a:xfrm>
            <a:off x="2478100" y="4235046"/>
            <a:ext cx="1663500" cy="269400"/>
          </a:xfrm>
          <a:prstGeom prst="rect">
            <a:avLst/>
          </a:prstGeom>
          <a:solidFill>
            <a:srgbClr val="FF9900"/>
          </a:solidFill>
          <a:ln>
            <a:noFill/>
          </a:ln>
          <a:effectLst>
            <a:outerShdw blurRad="37036" rotWithShape="0" algn="bl" dir="2820000" dist="12345">
              <a:srgbClr val="B7B7B7">
                <a:alpha val="85100"/>
              </a:srgbClr>
            </a:outerShdw>
          </a:effectLst>
        </p:spPr>
        <p:txBody>
          <a:bodyPr anchorCtr="0" anchor="t" bIns="59250" lIns="59250" spcFirstLastPara="1" rIns="59250" wrap="square" tIns="59250">
            <a:spAutoFit/>
          </a:bodyPr>
          <a:lstStyle/>
          <a:p>
            <a:pPr indent="0" lvl="0" marL="0" marR="0" rtl="0" algn="ctr">
              <a:lnSpc>
                <a:spcPct val="150000"/>
              </a:lnSpc>
              <a:spcBef>
                <a:spcPts val="0"/>
              </a:spcBef>
              <a:spcAft>
                <a:spcPts val="0"/>
              </a:spcAft>
              <a:buClr>
                <a:schemeClr val="dk1"/>
              </a:buClr>
              <a:buSzPts val="907"/>
              <a:buFont typeface="Arial"/>
              <a:buNone/>
            </a:pPr>
            <a:r>
              <a:rPr lang="en" sz="972">
                <a:solidFill>
                  <a:schemeClr val="lt1"/>
                </a:solidFill>
              </a:rPr>
              <a:t>Create Dataset</a:t>
            </a:r>
            <a:endParaRPr i="0" sz="972" u="none" cap="none" strike="noStrike">
              <a:solidFill>
                <a:schemeClr val="lt1"/>
              </a:solidFill>
            </a:endParaRPr>
          </a:p>
        </p:txBody>
      </p:sp>
      <p:pic>
        <p:nvPicPr>
          <p:cNvPr id="162" name="Google Shape;162;g23ec2985a68_1_33"/>
          <p:cNvPicPr preferRelativeResize="0"/>
          <p:nvPr/>
        </p:nvPicPr>
        <p:blipFill rotWithShape="1">
          <a:blip r:embed="rId8">
            <a:alphaModFix amt="10000"/>
          </a:blip>
          <a:srcRect b="0" l="0" r="0" t="0"/>
          <a:stretch/>
        </p:blipFill>
        <p:spPr>
          <a:xfrm>
            <a:off x="0" y="0"/>
            <a:ext cx="9144001" cy="51435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g23ec2985a68_1_42"/>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68" name="Google Shape;168;g23ec2985a68_1_42"/>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169" name="Google Shape;169;g23ec2985a68_1_42"/>
          <p:cNvSpPr txBox="1"/>
          <p:nvPr/>
        </p:nvSpPr>
        <p:spPr>
          <a:xfrm>
            <a:off x="340500" y="452038"/>
            <a:ext cx="8463000" cy="600300"/>
          </a:xfrm>
          <a:prstGeom prst="rect">
            <a:avLst/>
          </a:prstGeom>
          <a:noFill/>
          <a:ln>
            <a:noFill/>
          </a:ln>
          <a:effectLst>
            <a:outerShdw blurRad="57150" rotWithShape="0" algn="bl" dir="2820000" dist="19050">
              <a:srgbClr val="B7B7B7">
                <a:alpha val="85098"/>
              </a:srgbClr>
            </a:outerShdw>
          </a:effectLst>
        </p:spPr>
        <p:txBody>
          <a:bodyPr anchorCtr="0" anchor="t" bIns="91425" lIns="91425" spcFirstLastPara="1" rIns="91425" wrap="square" tIns="91425">
            <a:spAutoFit/>
          </a:bodyPr>
          <a:lstStyle/>
          <a:p>
            <a:pPr indent="-400050" lvl="0" marL="457200" marR="0" rtl="0" algn="l">
              <a:lnSpc>
                <a:spcPct val="100000"/>
              </a:lnSpc>
              <a:spcBef>
                <a:spcPts val="0"/>
              </a:spcBef>
              <a:spcAft>
                <a:spcPts val="0"/>
              </a:spcAft>
              <a:buClr>
                <a:srgbClr val="000000"/>
              </a:buClr>
              <a:buSzPts val="2700"/>
              <a:buFont typeface="Rubik"/>
              <a:buAutoNum type="arabicPeriod" startAt="2"/>
            </a:pPr>
            <a:r>
              <a:rPr b="1" i="0" lang="en" sz="2700" u="none" cap="none" strike="noStrike">
                <a:solidFill>
                  <a:srgbClr val="000000"/>
                </a:solidFill>
                <a:latin typeface="Rubik"/>
                <a:ea typeface="Rubik"/>
                <a:cs typeface="Rubik"/>
                <a:sym typeface="Rubik"/>
              </a:rPr>
              <a:t>Tabel Analisa</a:t>
            </a:r>
            <a:endParaRPr b="1" i="0" sz="2700" u="none" cap="none" strike="noStrike">
              <a:solidFill>
                <a:srgbClr val="000000"/>
              </a:solidFill>
              <a:latin typeface="Rubik"/>
              <a:ea typeface="Rubik"/>
              <a:cs typeface="Rubik"/>
              <a:sym typeface="Rubik"/>
            </a:endParaRPr>
          </a:p>
        </p:txBody>
      </p:sp>
      <p:sp>
        <p:nvSpPr>
          <p:cNvPr id="170" name="Google Shape;170;g23ec2985a68_1_42"/>
          <p:cNvSpPr txBox="1"/>
          <p:nvPr/>
        </p:nvSpPr>
        <p:spPr>
          <a:xfrm>
            <a:off x="854350" y="922350"/>
            <a:ext cx="2845500" cy="400200"/>
          </a:xfrm>
          <a:prstGeom prst="rect">
            <a:avLst/>
          </a:prstGeom>
          <a:noFill/>
          <a:ln>
            <a:noFill/>
          </a:ln>
          <a:effectLst>
            <a:outerShdw blurRad="57150" rotWithShape="0" algn="bl" dir="2820000" dist="19050">
              <a:srgbClr val="B7B7B7">
                <a:alpha val="85098"/>
              </a:srgbClr>
            </a:outerShdw>
          </a:effectLst>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400"/>
              <a:buFont typeface="Arial"/>
              <a:buNone/>
            </a:pPr>
            <a:r>
              <a:rPr lang="en">
                <a:latin typeface="Rubik"/>
                <a:ea typeface="Rubik"/>
                <a:cs typeface="Rubik"/>
                <a:sym typeface="Rubik"/>
              </a:rPr>
              <a:t>Hasil dari query yang dilakukan:</a:t>
            </a:r>
            <a:endParaRPr i="0" u="none" cap="none" strike="noStrike">
              <a:solidFill>
                <a:srgbClr val="000000"/>
              </a:solidFill>
            </a:endParaRPr>
          </a:p>
        </p:txBody>
      </p:sp>
      <p:pic>
        <p:nvPicPr>
          <p:cNvPr id="171" name="Google Shape;171;g23ec2985a68_1_42"/>
          <p:cNvPicPr preferRelativeResize="0"/>
          <p:nvPr/>
        </p:nvPicPr>
        <p:blipFill>
          <a:blip r:embed="rId5">
            <a:alphaModFix/>
          </a:blip>
          <a:stretch>
            <a:fillRect/>
          </a:stretch>
        </p:blipFill>
        <p:spPr>
          <a:xfrm>
            <a:off x="1480638" y="1611100"/>
            <a:ext cx="5830301" cy="1229750"/>
          </a:xfrm>
          <a:prstGeom prst="rect">
            <a:avLst/>
          </a:prstGeom>
          <a:noFill/>
          <a:ln>
            <a:noFill/>
          </a:ln>
        </p:spPr>
      </p:pic>
      <p:pic>
        <p:nvPicPr>
          <p:cNvPr id="172" name="Google Shape;172;g23ec2985a68_1_42"/>
          <p:cNvPicPr preferRelativeResize="0"/>
          <p:nvPr/>
        </p:nvPicPr>
        <p:blipFill>
          <a:blip r:embed="rId6">
            <a:alphaModFix/>
          </a:blip>
          <a:stretch>
            <a:fillRect/>
          </a:stretch>
        </p:blipFill>
        <p:spPr>
          <a:xfrm>
            <a:off x="1570123" y="3129400"/>
            <a:ext cx="5651326" cy="14150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id="177" name="Google Shape;177;g23ec2985a68_1_49"/>
          <p:cNvPicPr preferRelativeResize="0"/>
          <p:nvPr/>
        </p:nvPicPr>
        <p:blipFill rotWithShape="1">
          <a:blip r:embed="rId3">
            <a:alphaModFix amt="10000"/>
          </a:blip>
          <a:srcRect b="0" l="0" r="0" t="0"/>
          <a:stretch/>
        </p:blipFill>
        <p:spPr>
          <a:xfrm>
            <a:off x="46975" y="-46975"/>
            <a:ext cx="9144001" cy="5143501"/>
          </a:xfrm>
          <a:prstGeom prst="rect">
            <a:avLst/>
          </a:prstGeom>
          <a:noFill/>
          <a:ln>
            <a:noFill/>
          </a:ln>
        </p:spPr>
      </p:pic>
      <p:pic>
        <p:nvPicPr>
          <p:cNvPr id="178" name="Google Shape;178;g23ec2985a68_1_49"/>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179" name="Google Shape;179;g23ec2985a68_1_49"/>
          <p:cNvSpPr txBox="1"/>
          <p:nvPr/>
        </p:nvSpPr>
        <p:spPr>
          <a:xfrm>
            <a:off x="452500" y="50438"/>
            <a:ext cx="8463000" cy="600300"/>
          </a:xfrm>
          <a:prstGeom prst="rect">
            <a:avLst/>
          </a:prstGeom>
          <a:noFill/>
          <a:ln>
            <a:noFill/>
          </a:ln>
          <a:effectLst>
            <a:outerShdw blurRad="57150" rotWithShape="0" algn="bl" dir="2820000" dist="19050">
              <a:srgbClr val="B7B7B7">
                <a:alpha val="85098"/>
              </a:srgbClr>
            </a:outerShdw>
          </a:effectLst>
        </p:spPr>
        <p:txBody>
          <a:bodyPr anchorCtr="0" anchor="t" bIns="91425" lIns="91425" spcFirstLastPara="1" rIns="91425" wrap="square" tIns="91425">
            <a:spAutoFit/>
          </a:bodyPr>
          <a:lstStyle/>
          <a:p>
            <a:pPr indent="-400050" lvl="0" marL="457200" marR="0" rtl="0" algn="l">
              <a:lnSpc>
                <a:spcPct val="100000"/>
              </a:lnSpc>
              <a:spcBef>
                <a:spcPts val="0"/>
              </a:spcBef>
              <a:spcAft>
                <a:spcPts val="0"/>
              </a:spcAft>
              <a:buClr>
                <a:srgbClr val="000000"/>
              </a:buClr>
              <a:buSzPts val="2700"/>
              <a:buFont typeface="Rubik"/>
              <a:buAutoNum type="arabicPeriod" startAt="3"/>
            </a:pPr>
            <a:r>
              <a:rPr b="1" i="0" lang="en" sz="2700" u="none" cap="none" strike="noStrike">
                <a:solidFill>
                  <a:srgbClr val="000000"/>
                </a:solidFill>
                <a:latin typeface="Rubik"/>
                <a:ea typeface="Rubik"/>
                <a:cs typeface="Rubik"/>
                <a:sym typeface="Rubik"/>
              </a:rPr>
              <a:t>BigQuery Syntax</a:t>
            </a:r>
            <a:endParaRPr b="1" i="0" sz="2700" u="none" cap="none" strike="noStrike">
              <a:solidFill>
                <a:srgbClr val="000000"/>
              </a:solidFill>
              <a:latin typeface="Rubik"/>
              <a:ea typeface="Rubik"/>
              <a:cs typeface="Rubik"/>
              <a:sym typeface="Rubik"/>
            </a:endParaRPr>
          </a:p>
        </p:txBody>
      </p:sp>
      <p:sp>
        <p:nvSpPr>
          <p:cNvPr id="180" name="Google Shape;180;g23ec2985a68_1_49"/>
          <p:cNvSpPr txBox="1"/>
          <p:nvPr/>
        </p:nvSpPr>
        <p:spPr>
          <a:xfrm>
            <a:off x="917000" y="1393475"/>
            <a:ext cx="3334200" cy="323100"/>
          </a:xfrm>
          <a:prstGeom prst="rect">
            <a:avLst/>
          </a:prstGeom>
          <a:noFill/>
          <a:ln>
            <a:noFill/>
          </a:ln>
          <a:effectLst>
            <a:outerShdw blurRad="57150" rotWithShape="0" algn="bl" dir="2820000" dist="19050">
              <a:srgbClr val="B7B7B7">
                <a:alpha val="85098"/>
              </a:srgbClr>
            </a:outerShdw>
          </a:effectLst>
        </p:spPr>
        <p:txBody>
          <a:bodyPr anchorCtr="0" anchor="t" bIns="91425" lIns="91425" spcFirstLastPara="1" rIns="91425" wrap="square" tIns="91425">
            <a:spAutoFit/>
          </a:bodyPr>
          <a:lstStyle/>
          <a:p>
            <a:pPr indent="0" lvl="0" marL="0" rtl="0" algn="l">
              <a:lnSpc>
                <a:spcPct val="133333"/>
              </a:lnSpc>
              <a:spcBef>
                <a:spcPts val="0"/>
              </a:spcBef>
              <a:spcAft>
                <a:spcPts val="0"/>
              </a:spcAft>
              <a:buClr>
                <a:schemeClr val="dk1"/>
              </a:buClr>
              <a:buSzPts val="1100"/>
              <a:buFont typeface="Arial"/>
              <a:buNone/>
            </a:pPr>
            <a:r>
              <a:rPr lang="en" sz="900">
                <a:solidFill>
                  <a:srgbClr val="1967D2"/>
                </a:solidFill>
                <a:highlight>
                  <a:srgbClr val="FFFFFF"/>
                </a:highlight>
                <a:latin typeface="Roboto Mono"/>
                <a:ea typeface="Roboto Mono"/>
                <a:cs typeface="Roboto Mono"/>
                <a:sym typeface="Roboto Mono"/>
              </a:rPr>
              <a:t>CREATE  TABLE dataset_kamu.tabel_analisa AS</a:t>
            </a:r>
            <a:endParaRPr sz="900">
              <a:solidFill>
                <a:srgbClr val="202124"/>
              </a:solidFill>
              <a:highlight>
                <a:srgbClr val="FFFFFF"/>
              </a:highlight>
              <a:latin typeface="Roboto Mono"/>
              <a:ea typeface="Roboto Mono"/>
              <a:cs typeface="Roboto Mono"/>
              <a:sym typeface="Roboto Mono"/>
            </a:endParaRPr>
          </a:p>
        </p:txBody>
      </p:sp>
      <p:sp>
        <p:nvSpPr>
          <p:cNvPr id="181" name="Google Shape;181;g23ec2985a68_1_49"/>
          <p:cNvSpPr txBox="1"/>
          <p:nvPr/>
        </p:nvSpPr>
        <p:spPr>
          <a:xfrm>
            <a:off x="1086200" y="2186200"/>
            <a:ext cx="2494500" cy="3093900"/>
          </a:xfrm>
          <a:prstGeom prst="rect">
            <a:avLst/>
          </a:prstGeom>
          <a:noFill/>
          <a:ln>
            <a:noFill/>
          </a:ln>
          <a:effectLst>
            <a:outerShdw blurRad="57150" rotWithShape="0" algn="bl" dir="2820000" dist="19050">
              <a:srgbClr val="B7B7B7">
                <a:alpha val="85100"/>
              </a:srgbClr>
            </a:outerShdw>
          </a:effectLst>
        </p:spPr>
        <p:txBody>
          <a:bodyPr anchorCtr="0" anchor="t" bIns="91425" lIns="91425" spcFirstLastPara="1" rIns="91425" wrap="square" tIns="91425">
            <a:spAutoFit/>
          </a:bodyPr>
          <a:lstStyle/>
          <a:p>
            <a:pPr indent="0" lvl="0" marL="0" rtl="0" algn="l">
              <a:lnSpc>
                <a:spcPct val="133333"/>
              </a:lnSpc>
              <a:spcBef>
                <a:spcPts val="0"/>
              </a:spcBef>
              <a:spcAft>
                <a:spcPts val="0"/>
              </a:spcAft>
              <a:buClr>
                <a:schemeClr val="dk1"/>
              </a:buClr>
              <a:buSzPts val="1100"/>
              <a:buFont typeface="Arial"/>
              <a:buNone/>
            </a:pPr>
            <a:r>
              <a:rPr lang="en" sz="900">
                <a:solidFill>
                  <a:srgbClr val="1967D2"/>
                </a:solidFill>
                <a:highlight>
                  <a:srgbClr val="FFFFFF"/>
                </a:highlight>
                <a:latin typeface="Roboto Mono"/>
                <a:ea typeface="Roboto Mono"/>
                <a:cs typeface="Roboto Mono"/>
                <a:sym typeface="Roboto Mono"/>
              </a:rPr>
              <a:t>SELECT</a:t>
            </a:r>
            <a:endParaRPr sz="900">
              <a:solidFill>
                <a:srgbClr val="1967D2"/>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tf.transaction_id</a:t>
            </a:r>
            <a:r>
              <a:rPr lang="en" sz="900">
                <a:solidFill>
                  <a:srgbClr val="202124"/>
                </a:solidFill>
                <a:highlight>
                  <a:srgbClr val="FFFFFF"/>
                </a:highlight>
                <a:latin typeface="Roboto Mono"/>
                <a:ea typeface="Roboto Mono"/>
                <a:cs typeface="Roboto Mono"/>
                <a:sym typeface="Roboto Mono"/>
              </a:rPr>
              <a:t>,</a:t>
            </a:r>
            <a:endParaRPr sz="9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tf.date</a:t>
            </a:r>
            <a:r>
              <a:rPr lang="en" sz="900">
                <a:solidFill>
                  <a:srgbClr val="202124"/>
                </a:solidFill>
                <a:highlight>
                  <a:srgbClr val="FFFFFF"/>
                </a:highlight>
                <a:latin typeface="Roboto Mono"/>
                <a:ea typeface="Roboto Mono"/>
                <a:cs typeface="Roboto Mono"/>
                <a:sym typeface="Roboto Mono"/>
              </a:rPr>
              <a:t>,</a:t>
            </a:r>
            <a:endParaRPr sz="9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kc.branch_id</a:t>
            </a:r>
            <a:r>
              <a:rPr lang="en" sz="900">
                <a:solidFill>
                  <a:srgbClr val="202124"/>
                </a:solidFill>
                <a:highlight>
                  <a:srgbClr val="FFFFFF"/>
                </a:highlight>
                <a:latin typeface="Roboto Mono"/>
                <a:ea typeface="Roboto Mono"/>
                <a:cs typeface="Roboto Mono"/>
                <a:sym typeface="Roboto Mono"/>
              </a:rPr>
              <a:t>,</a:t>
            </a:r>
            <a:endParaRPr sz="9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kc.branch_name</a:t>
            </a:r>
            <a:r>
              <a:rPr lang="en" sz="900">
                <a:solidFill>
                  <a:srgbClr val="202124"/>
                </a:solidFill>
                <a:highlight>
                  <a:srgbClr val="FFFFFF"/>
                </a:highlight>
                <a:latin typeface="Roboto Mono"/>
                <a:ea typeface="Roboto Mono"/>
                <a:cs typeface="Roboto Mono"/>
                <a:sym typeface="Roboto Mono"/>
              </a:rPr>
              <a:t>,</a:t>
            </a:r>
            <a:endParaRPr sz="9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kc.kota</a:t>
            </a:r>
            <a:r>
              <a:rPr lang="en" sz="900">
                <a:solidFill>
                  <a:srgbClr val="202124"/>
                </a:solidFill>
                <a:highlight>
                  <a:srgbClr val="FFFFFF"/>
                </a:highlight>
                <a:latin typeface="Roboto Mono"/>
                <a:ea typeface="Roboto Mono"/>
                <a:cs typeface="Roboto Mono"/>
                <a:sym typeface="Roboto Mono"/>
              </a:rPr>
              <a:t>,</a:t>
            </a:r>
            <a:endParaRPr sz="9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kc.provinsi</a:t>
            </a:r>
            <a:r>
              <a:rPr lang="en" sz="900">
                <a:solidFill>
                  <a:srgbClr val="202124"/>
                </a:solidFill>
                <a:highlight>
                  <a:srgbClr val="FFFFFF"/>
                </a:highlight>
                <a:latin typeface="Roboto Mono"/>
                <a:ea typeface="Roboto Mono"/>
                <a:cs typeface="Roboto Mono"/>
                <a:sym typeface="Roboto Mono"/>
              </a:rPr>
              <a:t>,</a:t>
            </a:r>
            <a:endParaRPr sz="9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kc.rating</a:t>
            </a:r>
            <a:r>
              <a:rPr lang="en" sz="900">
                <a:solidFill>
                  <a:srgbClr val="202124"/>
                </a:solidFill>
                <a:highlight>
                  <a:srgbClr val="FFFFFF"/>
                </a:highlight>
                <a:latin typeface="Roboto Mono"/>
                <a:ea typeface="Roboto Mono"/>
                <a:cs typeface="Roboto Mono"/>
                <a:sym typeface="Roboto Mono"/>
              </a:rPr>
              <a:t>,</a:t>
            </a:r>
            <a:endParaRPr sz="9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tf.customer_name</a:t>
            </a:r>
            <a:r>
              <a:rPr lang="en" sz="900">
                <a:solidFill>
                  <a:srgbClr val="202124"/>
                </a:solidFill>
                <a:highlight>
                  <a:srgbClr val="FFFFFF"/>
                </a:highlight>
                <a:latin typeface="Roboto Mono"/>
                <a:ea typeface="Roboto Mono"/>
                <a:cs typeface="Roboto Mono"/>
                <a:sym typeface="Roboto Mono"/>
              </a:rPr>
              <a:t>,</a:t>
            </a:r>
            <a:endParaRPr sz="9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p.product_id</a:t>
            </a:r>
            <a:r>
              <a:rPr lang="en" sz="900">
                <a:solidFill>
                  <a:srgbClr val="202124"/>
                </a:solidFill>
                <a:highlight>
                  <a:srgbClr val="FFFFFF"/>
                </a:highlight>
                <a:latin typeface="Roboto Mono"/>
                <a:ea typeface="Roboto Mono"/>
                <a:cs typeface="Roboto Mono"/>
                <a:sym typeface="Roboto Mono"/>
              </a:rPr>
              <a:t>,</a:t>
            </a:r>
            <a:endParaRPr sz="9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p.product_name</a:t>
            </a:r>
            <a:r>
              <a:rPr lang="en" sz="900">
                <a:solidFill>
                  <a:srgbClr val="202124"/>
                </a:solidFill>
                <a:highlight>
                  <a:srgbClr val="FFFFFF"/>
                </a:highlight>
                <a:latin typeface="Roboto Mono"/>
                <a:ea typeface="Roboto Mono"/>
                <a:cs typeface="Roboto Mono"/>
                <a:sym typeface="Roboto Mono"/>
              </a:rPr>
              <a:t>,</a:t>
            </a:r>
            <a:endParaRPr sz="9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tf.price</a:t>
            </a: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AS</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actual_price</a:t>
            </a:r>
            <a:r>
              <a:rPr lang="en" sz="900">
                <a:solidFill>
                  <a:srgbClr val="202124"/>
                </a:solidFill>
                <a:highlight>
                  <a:srgbClr val="FFFFFF"/>
                </a:highlight>
                <a:latin typeface="Roboto Mono"/>
                <a:ea typeface="Roboto Mono"/>
                <a:cs typeface="Roboto Mono"/>
                <a:sym typeface="Roboto Mono"/>
              </a:rPr>
              <a:t>,</a:t>
            </a:r>
            <a:endParaRPr sz="9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t</a:t>
            </a:r>
            <a:r>
              <a:rPr lang="en" sz="900">
                <a:solidFill>
                  <a:schemeClr val="dk1"/>
                </a:solidFill>
                <a:highlight>
                  <a:srgbClr val="FFFFFF"/>
                </a:highlight>
                <a:latin typeface="Roboto Mono"/>
                <a:ea typeface="Roboto Mono"/>
                <a:cs typeface="Roboto Mono"/>
                <a:sym typeface="Roboto Mono"/>
              </a:rPr>
              <a:t>f.discount_percentage</a:t>
            </a:r>
            <a:r>
              <a:rPr lang="en" sz="900">
                <a:solidFill>
                  <a:srgbClr val="202124"/>
                </a:solidFill>
                <a:highlight>
                  <a:srgbClr val="FFFFFF"/>
                </a:highlight>
                <a:latin typeface="Roboto Mono"/>
                <a:ea typeface="Roboto Mono"/>
                <a:cs typeface="Roboto Mono"/>
                <a:sym typeface="Roboto Mono"/>
              </a:rPr>
              <a:t>,</a:t>
            </a:r>
            <a:endParaRPr sz="9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rPr lang="en" sz="900">
                <a:solidFill>
                  <a:schemeClr val="dk1"/>
                </a:solidFill>
                <a:highlight>
                  <a:srgbClr val="FFFFFF"/>
                </a:highlight>
                <a:latin typeface="Roboto Mono"/>
                <a:ea typeface="Roboto Mono"/>
                <a:cs typeface="Roboto Mono"/>
                <a:sym typeface="Roboto Mono"/>
              </a:rPr>
              <a:t>  tf.rating</a:t>
            </a: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AS</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rating_transaksi</a:t>
            </a:r>
            <a:endParaRPr sz="900">
              <a:solidFill>
                <a:schemeClr val="dk1"/>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t/>
            </a:r>
            <a:endParaRPr sz="9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t/>
            </a:r>
            <a:endParaRPr sz="900">
              <a:solidFill>
                <a:srgbClr val="1967D2"/>
              </a:solidFill>
              <a:highlight>
                <a:srgbClr val="FFFFFF"/>
              </a:highlight>
              <a:latin typeface="Roboto Mono"/>
              <a:ea typeface="Roboto Mono"/>
              <a:cs typeface="Roboto Mono"/>
              <a:sym typeface="Roboto Mono"/>
            </a:endParaRPr>
          </a:p>
        </p:txBody>
      </p:sp>
      <p:sp>
        <p:nvSpPr>
          <p:cNvPr id="182" name="Google Shape;182;g23ec2985a68_1_49"/>
          <p:cNvSpPr txBox="1"/>
          <p:nvPr/>
        </p:nvSpPr>
        <p:spPr>
          <a:xfrm>
            <a:off x="578625" y="931763"/>
            <a:ext cx="2843700" cy="461700"/>
          </a:xfrm>
          <a:prstGeom prst="rect">
            <a:avLst/>
          </a:prstGeom>
          <a:noFill/>
          <a:ln>
            <a:noFill/>
          </a:ln>
          <a:effectLst>
            <a:outerShdw blurRad="57150" rotWithShape="0" algn="bl" dir="2820000" dist="19050">
              <a:srgbClr val="B7B7B7">
                <a:alpha val="85100"/>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n" sz="1800">
                <a:solidFill>
                  <a:srgbClr val="019FAB"/>
                </a:solidFill>
                <a:latin typeface="Rubik"/>
                <a:ea typeface="Rubik"/>
                <a:cs typeface="Rubik"/>
                <a:sym typeface="Rubik"/>
              </a:rPr>
              <a:t>1</a:t>
            </a:r>
            <a:r>
              <a:rPr b="1" lang="en" sz="1800">
                <a:solidFill>
                  <a:srgbClr val="019FAB"/>
                </a:solidFill>
                <a:latin typeface="Rubik"/>
                <a:ea typeface="Rubik"/>
                <a:cs typeface="Rubik"/>
                <a:sym typeface="Rubik"/>
              </a:rPr>
              <a:t>.   Create Table</a:t>
            </a:r>
            <a:endParaRPr b="1" i="0" sz="1800" u="none" cap="none" strike="noStrike">
              <a:solidFill>
                <a:srgbClr val="019FAB"/>
              </a:solidFill>
              <a:latin typeface="Rubik"/>
              <a:ea typeface="Rubik"/>
              <a:cs typeface="Rubik"/>
              <a:sym typeface="Rubik"/>
            </a:endParaRPr>
          </a:p>
        </p:txBody>
      </p:sp>
      <p:sp>
        <p:nvSpPr>
          <p:cNvPr id="183" name="Google Shape;183;g23ec2985a68_1_49"/>
          <p:cNvSpPr txBox="1"/>
          <p:nvPr/>
        </p:nvSpPr>
        <p:spPr>
          <a:xfrm>
            <a:off x="578625" y="1724500"/>
            <a:ext cx="4625100" cy="461700"/>
          </a:xfrm>
          <a:prstGeom prst="rect">
            <a:avLst/>
          </a:prstGeom>
          <a:noFill/>
          <a:ln>
            <a:noFill/>
          </a:ln>
          <a:effectLst>
            <a:outerShdw blurRad="57150" rotWithShape="0" algn="bl" dir="2820000" dist="19050">
              <a:srgbClr val="B7B7B7">
                <a:alpha val="85100"/>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n" sz="1800">
                <a:solidFill>
                  <a:srgbClr val="019FAB"/>
                </a:solidFill>
                <a:latin typeface="Rubik"/>
                <a:ea typeface="Rubik"/>
                <a:cs typeface="Rubik"/>
                <a:sym typeface="Rubik"/>
              </a:rPr>
              <a:t>2</a:t>
            </a:r>
            <a:r>
              <a:rPr b="1" lang="en" sz="1800">
                <a:solidFill>
                  <a:srgbClr val="019FAB"/>
                </a:solidFill>
                <a:latin typeface="Rubik"/>
                <a:ea typeface="Rubik"/>
                <a:cs typeface="Rubik"/>
                <a:sym typeface="Rubik"/>
              </a:rPr>
              <a:t>.   Mengambil data yang diperlukan </a:t>
            </a:r>
            <a:endParaRPr b="1" i="0" sz="1800" u="none" cap="none" strike="noStrike">
              <a:solidFill>
                <a:srgbClr val="019FAB"/>
              </a:solidFill>
              <a:latin typeface="Rubik"/>
              <a:ea typeface="Rubik"/>
              <a:cs typeface="Rubik"/>
              <a:sym typeface="Rubik"/>
            </a:endParaRPr>
          </a:p>
        </p:txBody>
      </p:sp>
      <p:sp>
        <p:nvSpPr>
          <p:cNvPr id="184" name="Google Shape;184;g23ec2985a68_1_49"/>
          <p:cNvSpPr txBox="1"/>
          <p:nvPr/>
        </p:nvSpPr>
        <p:spPr>
          <a:xfrm>
            <a:off x="917000" y="600750"/>
            <a:ext cx="5238900" cy="369300"/>
          </a:xfrm>
          <a:prstGeom prst="rect">
            <a:avLst/>
          </a:prstGeom>
          <a:noFill/>
          <a:ln>
            <a:noFill/>
          </a:ln>
          <a:effectLst>
            <a:outerShdw blurRad="57150" rotWithShape="0" algn="bl" dir="2820000" dist="19050">
              <a:srgbClr val="B7B7B7">
                <a:alpha val="85100"/>
              </a:srgbClr>
            </a:outerShdw>
          </a:effectLst>
        </p:spPr>
        <p:txBody>
          <a:bodyPr anchorCtr="0" anchor="t" bIns="91425" lIns="91425" spcFirstLastPara="1" rIns="91425" wrap="square" tIns="91425">
            <a:spAutoFit/>
          </a:bodyPr>
          <a:lstStyle/>
          <a:p>
            <a:pPr indent="0" lvl="0" marL="0" rtl="0" algn="l">
              <a:lnSpc>
                <a:spcPct val="133333"/>
              </a:lnSpc>
              <a:spcBef>
                <a:spcPts val="0"/>
              </a:spcBef>
              <a:spcAft>
                <a:spcPts val="0"/>
              </a:spcAft>
              <a:buClr>
                <a:schemeClr val="dk1"/>
              </a:buClr>
              <a:buSzPts val="1100"/>
              <a:buFont typeface="Arial"/>
              <a:buNone/>
            </a:pPr>
            <a:r>
              <a:rPr lang="en" sz="1200">
                <a:solidFill>
                  <a:schemeClr val="dk1"/>
                </a:solidFill>
              </a:rPr>
              <a:t>The following is SQL syntax in BigQuery and its explanation. </a:t>
            </a:r>
            <a:r>
              <a:rPr lang="en" sz="1200" u="sng">
                <a:solidFill>
                  <a:schemeClr val="hlink"/>
                </a:solidFill>
                <a:hlinkClick r:id="rId5"/>
              </a:rPr>
              <a:t>Link Github</a:t>
            </a:r>
            <a:endParaRPr sz="12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g3aa9153eee5_0_49"/>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90" name="Google Shape;190;g3aa9153eee5_0_49"/>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191" name="Google Shape;191;g3aa9153eee5_0_49"/>
          <p:cNvSpPr txBox="1"/>
          <p:nvPr/>
        </p:nvSpPr>
        <p:spPr>
          <a:xfrm>
            <a:off x="440775" y="156113"/>
            <a:ext cx="8463000" cy="600300"/>
          </a:xfrm>
          <a:prstGeom prst="rect">
            <a:avLst/>
          </a:prstGeom>
          <a:noFill/>
          <a:ln>
            <a:noFill/>
          </a:ln>
          <a:effectLst>
            <a:outerShdw blurRad="57150" rotWithShape="0" algn="bl" dir="2820000" dist="19050">
              <a:srgbClr val="B7B7B7">
                <a:alpha val="85100"/>
              </a:srgbClr>
            </a:outerShdw>
          </a:effectLst>
        </p:spPr>
        <p:txBody>
          <a:bodyPr anchorCtr="0" anchor="t" bIns="91425" lIns="91425" spcFirstLastPara="1" rIns="91425" wrap="square" tIns="91425">
            <a:spAutoFit/>
          </a:bodyPr>
          <a:lstStyle/>
          <a:p>
            <a:pPr indent="-400050" lvl="0" marL="457200" marR="0" rtl="0" algn="l">
              <a:lnSpc>
                <a:spcPct val="100000"/>
              </a:lnSpc>
              <a:spcBef>
                <a:spcPts val="0"/>
              </a:spcBef>
              <a:spcAft>
                <a:spcPts val="0"/>
              </a:spcAft>
              <a:buClr>
                <a:srgbClr val="000000"/>
              </a:buClr>
              <a:buSzPts val="2700"/>
              <a:buFont typeface="Rubik"/>
              <a:buAutoNum type="arabicPeriod" startAt="3"/>
            </a:pPr>
            <a:r>
              <a:rPr b="1" i="0" lang="en" sz="2700" u="none" cap="none" strike="noStrike">
                <a:solidFill>
                  <a:srgbClr val="000000"/>
                </a:solidFill>
                <a:latin typeface="Rubik"/>
                <a:ea typeface="Rubik"/>
                <a:cs typeface="Rubik"/>
                <a:sym typeface="Rubik"/>
              </a:rPr>
              <a:t>BigQuery Syntax</a:t>
            </a:r>
            <a:endParaRPr b="1" i="0" sz="2700" u="none" cap="none" strike="noStrike">
              <a:solidFill>
                <a:srgbClr val="000000"/>
              </a:solidFill>
              <a:latin typeface="Rubik"/>
              <a:ea typeface="Rubik"/>
              <a:cs typeface="Rubik"/>
              <a:sym typeface="Rubik"/>
            </a:endParaRPr>
          </a:p>
        </p:txBody>
      </p:sp>
      <p:sp>
        <p:nvSpPr>
          <p:cNvPr id="192" name="Google Shape;192;g3aa9153eee5_0_49"/>
          <p:cNvSpPr txBox="1"/>
          <p:nvPr/>
        </p:nvSpPr>
        <p:spPr>
          <a:xfrm>
            <a:off x="1047225" y="1218125"/>
            <a:ext cx="4437000" cy="1616100"/>
          </a:xfrm>
          <a:prstGeom prst="rect">
            <a:avLst/>
          </a:prstGeom>
          <a:noFill/>
          <a:ln>
            <a:noFill/>
          </a:ln>
          <a:effectLst>
            <a:outerShdw blurRad="57150" rotWithShape="0" algn="bl" dir="2820000" dist="19050">
              <a:srgbClr val="B7B7B7">
                <a:alpha val="85100"/>
              </a:srgbClr>
            </a:outerShdw>
          </a:effectLst>
        </p:spPr>
        <p:txBody>
          <a:bodyPr anchorCtr="0" anchor="t" bIns="91425" lIns="91425" spcFirstLastPara="1" rIns="91425" wrap="square" tIns="91425">
            <a:spAutoFit/>
          </a:bodyPr>
          <a:lstStyle/>
          <a:p>
            <a:pPr indent="0" lvl="0" marL="0" rtl="0" algn="l">
              <a:lnSpc>
                <a:spcPct val="133333"/>
              </a:lnSpc>
              <a:spcBef>
                <a:spcPts val="0"/>
              </a:spcBef>
              <a:spcAft>
                <a:spcPts val="0"/>
              </a:spcAft>
              <a:buClr>
                <a:schemeClr val="dk1"/>
              </a:buClr>
              <a:buSzPts val="1100"/>
              <a:buFont typeface="Arial"/>
              <a:buNone/>
            </a:pP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CASE</a:t>
            </a:r>
            <a:endParaRPr sz="900">
              <a:solidFill>
                <a:srgbClr val="1967D2"/>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WHEN</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tf.price</a:t>
            </a:r>
            <a:r>
              <a:rPr lang="en" sz="900">
                <a:solidFill>
                  <a:srgbClr val="202124"/>
                </a:solidFill>
                <a:highlight>
                  <a:srgbClr val="FFFFFF"/>
                </a:highlight>
                <a:latin typeface="Roboto Mono"/>
                <a:ea typeface="Roboto Mono"/>
                <a:cs typeface="Roboto Mono"/>
                <a:sym typeface="Roboto Mono"/>
              </a:rPr>
              <a:t> </a:t>
            </a:r>
            <a:r>
              <a:rPr lang="en" sz="900">
                <a:solidFill>
                  <a:srgbClr val="3C4043"/>
                </a:solidFill>
                <a:highlight>
                  <a:srgbClr val="FFFFFF"/>
                </a:highlight>
                <a:latin typeface="Roboto Mono"/>
                <a:ea typeface="Roboto Mono"/>
                <a:cs typeface="Roboto Mono"/>
                <a:sym typeface="Roboto Mono"/>
              </a:rPr>
              <a:t>&lt;=</a:t>
            </a:r>
            <a:r>
              <a:rPr lang="en" sz="900">
                <a:solidFill>
                  <a:srgbClr val="202124"/>
                </a:solidFill>
                <a:highlight>
                  <a:srgbClr val="FFFFFF"/>
                </a:highlight>
                <a:latin typeface="Roboto Mono"/>
                <a:ea typeface="Roboto Mono"/>
                <a:cs typeface="Roboto Mono"/>
                <a:sym typeface="Roboto Mono"/>
              </a:rPr>
              <a:t> </a:t>
            </a:r>
            <a:r>
              <a:rPr lang="en" sz="900">
                <a:solidFill>
                  <a:srgbClr val="B06000"/>
                </a:solidFill>
                <a:highlight>
                  <a:srgbClr val="FFFFFF"/>
                </a:highlight>
                <a:latin typeface="Roboto Mono"/>
                <a:ea typeface="Roboto Mono"/>
                <a:cs typeface="Roboto Mono"/>
                <a:sym typeface="Roboto Mono"/>
              </a:rPr>
              <a:t>50000</a:t>
            </a: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THEN</a:t>
            </a:r>
            <a:r>
              <a:rPr lang="en" sz="900">
                <a:solidFill>
                  <a:srgbClr val="202124"/>
                </a:solidFill>
                <a:highlight>
                  <a:srgbClr val="FFFFFF"/>
                </a:highlight>
                <a:latin typeface="Roboto Mono"/>
                <a:ea typeface="Roboto Mono"/>
                <a:cs typeface="Roboto Mono"/>
                <a:sym typeface="Roboto Mono"/>
              </a:rPr>
              <a:t> </a:t>
            </a:r>
            <a:r>
              <a:rPr lang="en" sz="900">
                <a:solidFill>
                  <a:srgbClr val="B06000"/>
                </a:solidFill>
                <a:highlight>
                  <a:srgbClr val="FFFFFF"/>
                </a:highlight>
                <a:latin typeface="Roboto Mono"/>
                <a:ea typeface="Roboto Mono"/>
                <a:cs typeface="Roboto Mono"/>
                <a:sym typeface="Roboto Mono"/>
              </a:rPr>
              <a:t>0.1</a:t>
            </a:r>
            <a:endParaRPr sz="900">
              <a:solidFill>
                <a:srgbClr val="B06000"/>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WHEN</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tf.price</a:t>
            </a:r>
            <a:r>
              <a:rPr lang="en" sz="900">
                <a:solidFill>
                  <a:srgbClr val="202124"/>
                </a:solidFill>
                <a:highlight>
                  <a:srgbClr val="FFFFFF"/>
                </a:highlight>
                <a:latin typeface="Roboto Mono"/>
                <a:ea typeface="Roboto Mono"/>
                <a:cs typeface="Roboto Mono"/>
                <a:sym typeface="Roboto Mono"/>
              </a:rPr>
              <a:t> </a:t>
            </a:r>
            <a:r>
              <a:rPr lang="en" sz="900">
                <a:solidFill>
                  <a:srgbClr val="3C4043"/>
                </a:solidFill>
                <a:highlight>
                  <a:srgbClr val="FFFFFF"/>
                </a:highlight>
                <a:latin typeface="Roboto Mono"/>
                <a:ea typeface="Roboto Mono"/>
                <a:cs typeface="Roboto Mono"/>
                <a:sym typeface="Roboto Mono"/>
              </a:rPr>
              <a:t>&gt;</a:t>
            </a:r>
            <a:r>
              <a:rPr lang="en" sz="900">
                <a:solidFill>
                  <a:srgbClr val="202124"/>
                </a:solidFill>
                <a:highlight>
                  <a:srgbClr val="FFFFFF"/>
                </a:highlight>
                <a:latin typeface="Roboto Mono"/>
                <a:ea typeface="Roboto Mono"/>
                <a:cs typeface="Roboto Mono"/>
                <a:sym typeface="Roboto Mono"/>
              </a:rPr>
              <a:t> </a:t>
            </a:r>
            <a:r>
              <a:rPr lang="en" sz="900">
                <a:solidFill>
                  <a:srgbClr val="B06000"/>
                </a:solidFill>
                <a:highlight>
                  <a:srgbClr val="FFFFFF"/>
                </a:highlight>
                <a:latin typeface="Roboto Mono"/>
                <a:ea typeface="Roboto Mono"/>
                <a:cs typeface="Roboto Mono"/>
                <a:sym typeface="Roboto Mono"/>
              </a:rPr>
              <a:t>50000</a:t>
            </a: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AND</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tf.price</a:t>
            </a:r>
            <a:r>
              <a:rPr lang="en" sz="900">
                <a:solidFill>
                  <a:srgbClr val="202124"/>
                </a:solidFill>
                <a:highlight>
                  <a:srgbClr val="FFFFFF"/>
                </a:highlight>
                <a:latin typeface="Roboto Mono"/>
                <a:ea typeface="Roboto Mono"/>
                <a:cs typeface="Roboto Mono"/>
                <a:sym typeface="Roboto Mono"/>
              </a:rPr>
              <a:t> </a:t>
            </a:r>
            <a:r>
              <a:rPr lang="en" sz="900">
                <a:solidFill>
                  <a:srgbClr val="3C4043"/>
                </a:solidFill>
                <a:highlight>
                  <a:srgbClr val="FFFFFF"/>
                </a:highlight>
                <a:latin typeface="Roboto Mono"/>
                <a:ea typeface="Roboto Mono"/>
                <a:cs typeface="Roboto Mono"/>
                <a:sym typeface="Roboto Mono"/>
              </a:rPr>
              <a:t>&lt;=</a:t>
            </a:r>
            <a:r>
              <a:rPr lang="en" sz="900">
                <a:solidFill>
                  <a:srgbClr val="202124"/>
                </a:solidFill>
                <a:highlight>
                  <a:srgbClr val="FFFFFF"/>
                </a:highlight>
                <a:latin typeface="Roboto Mono"/>
                <a:ea typeface="Roboto Mono"/>
                <a:cs typeface="Roboto Mono"/>
                <a:sym typeface="Roboto Mono"/>
              </a:rPr>
              <a:t> </a:t>
            </a:r>
            <a:r>
              <a:rPr lang="en" sz="900">
                <a:solidFill>
                  <a:srgbClr val="B06000"/>
                </a:solidFill>
                <a:highlight>
                  <a:srgbClr val="FFFFFF"/>
                </a:highlight>
                <a:latin typeface="Roboto Mono"/>
                <a:ea typeface="Roboto Mono"/>
                <a:cs typeface="Roboto Mono"/>
                <a:sym typeface="Roboto Mono"/>
              </a:rPr>
              <a:t>100000</a:t>
            </a: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THEN</a:t>
            </a:r>
            <a:r>
              <a:rPr lang="en" sz="900">
                <a:solidFill>
                  <a:srgbClr val="202124"/>
                </a:solidFill>
                <a:highlight>
                  <a:srgbClr val="FFFFFF"/>
                </a:highlight>
                <a:latin typeface="Roboto Mono"/>
                <a:ea typeface="Roboto Mono"/>
                <a:cs typeface="Roboto Mono"/>
                <a:sym typeface="Roboto Mono"/>
              </a:rPr>
              <a:t> </a:t>
            </a:r>
            <a:r>
              <a:rPr lang="en" sz="900">
                <a:solidFill>
                  <a:srgbClr val="B06000"/>
                </a:solidFill>
                <a:highlight>
                  <a:srgbClr val="FFFFFF"/>
                </a:highlight>
                <a:latin typeface="Roboto Mono"/>
                <a:ea typeface="Roboto Mono"/>
                <a:cs typeface="Roboto Mono"/>
                <a:sym typeface="Roboto Mono"/>
              </a:rPr>
              <a:t>0.15</a:t>
            </a:r>
            <a:endParaRPr sz="900">
              <a:solidFill>
                <a:srgbClr val="B06000"/>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WHEN</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tf.price</a:t>
            </a:r>
            <a:r>
              <a:rPr lang="en" sz="900">
                <a:solidFill>
                  <a:srgbClr val="202124"/>
                </a:solidFill>
                <a:highlight>
                  <a:srgbClr val="FFFFFF"/>
                </a:highlight>
                <a:latin typeface="Roboto Mono"/>
                <a:ea typeface="Roboto Mono"/>
                <a:cs typeface="Roboto Mono"/>
                <a:sym typeface="Roboto Mono"/>
              </a:rPr>
              <a:t> </a:t>
            </a:r>
            <a:r>
              <a:rPr lang="en" sz="900">
                <a:solidFill>
                  <a:srgbClr val="3C4043"/>
                </a:solidFill>
                <a:highlight>
                  <a:srgbClr val="FFFFFF"/>
                </a:highlight>
                <a:latin typeface="Roboto Mono"/>
                <a:ea typeface="Roboto Mono"/>
                <a:cs typeface="Roboto Mono"/>
                <a:sym typeface="Roboto Mono"/>
              </a:rPr>
              <a:t>&gt;</a:t>
            </a:r>
            <a:r>
              <a:rPr lang="en" sz="900">
                <a:solidFill>
                  <a:srgbClr val="202124"/>
                </a:solidFill>
                <a:highlight>
                  <a:srgbClr val="FFFFFF"/>
                </a:highlight>
                <a:latin typeface="Roboto Mono"/>
                <a:ea typeface="Roboto Mono"/>
                <a:cs typeface="Roboto Mono"/>
                <a:sym typeface="Roboto Mono"/>
              </a:rPr>
              <a:t> </a:t>
            </a:r>
            <a:r>
              <a:rPr lang="en" sz="900">
                <a:solidFill>
                  <a:srgbClr val="B06000"/>
                </a:solidFill>
                <a:highlight>
                  <a:srgbClr val="FFFFFF"/>
                </a:highlight>
                <a:latin typeface="Roboto Mono"/>
                <a:ea typeface="Roboto Mono"/>
                <a:cs typeface="Roboto Mono"/>
                <a:sym typeface="Roboto Mono"/>
              </a:rPr>
              <a:t>100000</a:t>
            </a: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AND</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tf.price</a:t>
            </a:r>
            <a:r>
              <a:rPr lang="en" sz="900">
                <a:solidFill>
                  <a:srgbClr val="202124"/>
                </a:solidFill>
                <a:highlight>
                  <a:srgbClr val="FFFFFF"/>
                </a:highlight>
                <a:latin typeface="Roboto Mono"/>
                <a:ea typeface="Roboto Mono"/>
                <a:cs typeface="Roboto Mono"/>
                <a:sym typeface="Roboto Mono"/>
              </a:rPr>
              <a:t> </a:t>
            </a:r>
            <a:r>
              <a:rPr lang="en" sz="900">
                <a:solidFill>
                  <a:srgbClr val="3C4043"/>
                </a:solidFill>
                <a:highlight>
                  <a:srgbClr val="FFFFFF"/>
                </a:highlight>
                <a:latin typeface="Roboto Mono"/>
                <a:ea typeface="Roboto Mono"/>
                <a:cs typeface="Roboto Mono"/>
                <a:sym typeface="Roboto Mono"/>
              </a:rPr>
              <a:t>&lt;=</a:t>
            </a:r>
            <a:r>
              <a:rPr lang="en" sz="900">
                <a:solidFill>
                  <a:srgbClr val="202124"/>
                </a:solidFill>
                <a:highlight>
                  <a:srgbClr val="FFFFFF"/>
                </a:highlight>
                <a:latin typeface="Roboto Mono"/>
                <a:ea typeface="Roboto Mono"/>
                <a:cs typeface="Roboto Mono"/>
                <a:sym typeface="Roboto Mono"/>
              </a:rPr>
              <a:t> </a:t>
            </a:r>
            <a:r>
              <a:rPr lang="en" sz="900">
                <a:solidFill>
                  <a:srgbClr val="B06000"/>
                </a:solidFill>
                <a:highlight>
                  <a:srgbClr val="FFFFFF"/>
                </a:highlight>
                <a:latin typeface="Roboto Mono"/>
                <a:ea typeface="Roboto Mono"/>
                <a:cs typeface="Roboto Mono"/>
                <a:sym typeface="Roboto Mono"/>
              </a:rPr>
              <a:t>300000</a:t>
            </a: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THEN</a:t>
            </a:r>
            <a:r>
              <a:rPr lang="en" sz="900">
                <a:solidFill>
                  <a:srgbClr val="202124"/>
                </a:solidFill>
                <a:highlight>
                  <a:srgbClr val="FFFFFF"/>
                </a:highlight>
                <a:latin typeface="Roboto Mono"/>
                <a:ea typeface="Roboto Mono"/>
                <a:cs typeface="Roboto Mono"/>
                <a:sym typeface="Roboto Mono"/>
              </a:rPr>
              <a:t> </a:t>
            </a:r>
            <a:r>
              <a:rPr lang="en" sz="900">
                <a:solidFill>
                  <a:srgbClr val="B06000"/>
                </a:solidFill>
                <a:highlight>
                  <a:srgbClr val="FFFFFF"/>
                </a:highlight>
                <a:latin typeface="Roboto Mono"/>
                <a:ea typeface="Roboto Mono"/>
                <a:cs typeface="Roboto Mono"/>
                <a:sym typeface="Roboto Mono"/>
              </a:rPr>
              <a:t>0.2</a:t>
            </a:r>
            <a:endParaRPr sz="900">
              <a:solidFill>
                <a:srgbClr val="B06000"/>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WHEN</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tf.price</a:t>
            </a:r>
            <a:r>
              <a:rPr lang="en" sz="900">
                <a:solidFill>
                  <a:srgbClr val="202124"/>
                </a:solidFill>
                <a:highlight>
                  <a:srgbClr val="FFFFFF"/>
                </a:highlight>
                <a:latin typeface="Roboto Mono"/>
                <a:ea typeface="Roboto Mono"/>
                <a:cs typeface="Roboto Mono"/>
                <a:sym typeface="Roboto Mono"/>
              </a:rPr>
              <a:t> </a:t>
            </a:r>
            <a:r>
              <a:rPr lang="en" sz="900">
                <a:solidFill>
                  <a:srgbClr val="3C4043"/>
                </a:solidFill>
                <a:highlight>
                  <a:srgbClr val="FFFFFF"/>
                </a:highlight>
                <a:latin typeface="Roboto Mono"/>
                <a:ea typeface="Roboto Mono"/>
                <a:cs typeface="Roboto Mono"/>
                <a:sym typeface="Roboto Mono"/>
              </a:rPr>
              <a:t>&gt;</a:t>
            </a:r>
            <a:r>
              <a:rPr lang="en" sz="900">
                <a:solidFill>
                  <a:srgbClr val="202124"/>
                </a:solidFill>
                <a:highlight>
                  <a:srgbClr val="FFFFFF"/>
                </a:highlight>
                <a:latin typeface="Roboto Mono"/>
                <a:ea typeface="Roboto Mono"/>
                <a:cs typeface="Roboto Mono"/>
                <a:sym typeface="Roboto Mono"/>
              </a:rPr>
              <a:t> </a:t>
            </a:r>
            <a:r>
              <a:rPr lang="en" sz="900">
                <a:solidFill>
                  <a:srgbClr val="B06000"/>
                </a:solidFill>
                <a:highlight>
                  <a:srgbClr val="FFFFFF"/>
                </a:highlight>
                <a:latin typeface="Roboto Mono"/>
                <a:ea typeface="Roboto Mono"/>
                <a:cs typeface="Roboto Mono"/>
                <a:sym typeface="Roboto Mono"/>
              </a:rPr>
              <a:t>300000</a:t>
            </a: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AND</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tf.price</a:t>
            </a:r>
            <a:r>
              <a:rPr lang="en" sz="900">
                <a:solidFill>
                  <a:srgbClr val="202124"/>
                </a:solidFill>
                <a:highlight>
                  <a:srgbClr val="FFFFFF"/>
                </a:highlight>
                <a:latin typeface="Roboto Mono"/>
                <a:ea typeface="Roboto Mono"/>
                <a:cs typeface="Roboto Mono"/>
                <a:sym typeface="Roboto Mono"/>
              </a:rPr>
              <a:t> </a:t>
            </a:r>
            <a:r>
              <a:rPr lang="en" sz="900">
                <a:solidFill>
                  <a:srgbClr val="3C4043"/>
                </a:solidFill>
                <a:highlight>
                  <a:srgbClr val="FFFFFF"/>
                </a:highlight>
                <a:latin typeface="Roboto Mono"/>
                <a:ea typeface="Roboto Mono"/>
                <a:cs typeface="Roboto Mono"/>
                <a:sym typeface="Roboto Mono"/>
              </a:rPr>
              <a:t>&lt;=</a:t>
            </a:r>
            <a:r>
              <a:rPr lang="en" sz="900">
                <a:solidFill>
                  <a:srgbClr val="202124"/>
                </a:solidFill>
                <a:highlight>
                  <a:srgbClr val="FFFFFF"/>
                </a:highlight>
                <a:latin typeface="Roboto Mono"/>
                <a:ea typeface="Roboto Mono"/>
                <a:cs typeface="Roboto Mono"/>
                <a:sym typeface="Roboto Mono"/>
              </a:rPr>
              <a:t> </a:t>
            </a:r>
            <a:r>
              <a:rPr lang="en" sz="900">
                <a:solidFill>
                  <a:srgbClr val="B06000"/>
                </a:solidFill>
                <a:highlight>
                  <a:srgbClr val="FFFFFF"/>
                </a:highlight>
                <a:latin typeface="Roboto Mono"/>
                <a:ea typeface="Roboto Mono"/>
                <a:cs typeface="Roboto Mono"/>
                <a:sym typeface="Roboto Mono"/>
              </a:rPr>
              <a:t>500000</a:t>
            </a: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THEN</a:t>
            </a:r>
            <a:r>
              <a:rPr lang="en" sz="900">
                <a:solidFill>
                  <a:srgbClr val="202124"/>
                </a:solidFill>
                <a:highlight>
                  <a:srgbClr val="FFFFFF"/>
                </a:highlight>
                <a:latin typeface="Roboto Mono"/>
                <a:ea typeface="Roboto Mono"/>
                <a:cs typeface="Roboto Mono"/>
                <a:sym typeface="Roboto Mono"/>
              </a:rPr>
              <a:t> </a:t>
            </a:r>
            <a:r>
              <a:rPr lang="en" sz="900">
                <a:solidFill>
                  <a:srgbClr val="B06000"/>
                </a:solidFill>
                <a:highlight>
                  <a:srgbClr val="FFFFFF"/>
                </a:highlight>
                <a:latin typeface="Roboto Mono"/>
                <a:ea typeface="Roboto Mono"/>
                <a:cs typeface="Roboto Mono"/>
                <a:sym typeface="Roboto Mono"/>
              </a:rPr>
              <a:t>0.25</a:t>
            </a:r>
            <a:endParaRPr sz="900">
              <a:solidFill>
                <a:srgbClr val="B06000"/>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WHEN</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tf.price</a:t>
            </a:r>
            <a:r>
              <a:rPr lang="en" sz="900">
                <a:solidFill>
                  <a:srgbClr val="202124"/>
                </a:solidFill>
                <a:highlight>
                  <a:srgbClr val="FFFFFF"/>
                </a:highlight>
                <a:latin typeface="Roboto Mono"/>
                <a:ea typeface="Roboto Mono"/>
                <a:cs typeface="Roboto Mono"/>
                <a:sym typeface="Roboto Mono"/>
              </a:rPr>
              <a:t> </a:t>
            </a:r>
            <a:r>
              <a:rPr lang="en" sz="900">
                <a:solidFill>
                  <a:srgbClr val="3C4043"/>
                </a:solidFill>
                <a:highlight>
                  <a:srgbClr val="FFFFFF"/>
                </a:highlight>
                <a:latin typeface="Roboto Mono"/>
                <a:ea typeface="Roboto Mono"/>
                <a:cs typeface="Roboto Mono"/>
                <a:sym typeface="Roboto Mono"/>
              </a:rPr>
              <a:t>&gt;</a:t>
            </a:r>
            <a:r>
              <a:rPr lang="en" sz="900">
                <a:solidFill>
                  <a:srgbClr val="202124"/>
                </a:solidFill>
                <a:highlight>
                  <a:srgbClr val="FFFFFF"/>
                </a:highlight>
                <a:latin typeface="Roboto Mono"/>
                <a:ea typeface="Roboto Mono"/>
                <a:cs typeface="Roboto Mono"/>
                <a:sym typeface="Roboto Mono"/>
              </a:rPr>
              <a:t> </a:t>
            </a:r>
            <a:r>
              <a:rPr lang="en" sz="900">
                <a:solidFill>
                  <a:srgbClr val="B06000"/>
                </a:solidFill>
                <a:highlight>
                  <a:srgbClr val="FFFFFF"/>
                </a:highlight>
                <a:latin typeface="Roboto Mono"/>
                <a:ea typeface="Roboto Mono"/>
                <a:cs typeface="Roboto Mono"/>
                <a:sym typeface="Roboto Mono"/>
              </a:rPr>
              <a:t>500000</a:t>
            </a: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THEN</a:t>
            </a:r>
            <a:r>
              <a:rPr lang="en" sz="900">
                <a:solidFill>
                  <a:srgbClr val="202124"/>
                </a:solidFill>
                <a:highlight>
                  <a:srgbClr val="FFFFFF"/>
                </a:highlight>
                <a:latin typeface="Roboto Mono"/>
                <a:ea typeface="Roboto Mono"/>
                <a:cs typeface="Roboto Mono"/>
                <a:sym typeface="Roboto Mono"/>
              </a:rPr>
              <a:t> </a:t>
            </a:r>
            <a:r>
              <a:rPr lang="en" sz="900">
                <a:solidFill>
                  <a:srgbClr val="B06000"/>
                </a:solidFill>
                <a:highlight>
                  <a:srgbClr val="FFFFFF"/>
                </a:highlight>
                <a:latin typeface="Roboto Mono"/>
                <a:ea typeface="Roboto Mono"/>
                <a:cs typeface="Roboto Mono"/>
                <a:sym typeface="Roboto Mono"/>
              </a:rPr>
              <a:t>0.3</a:t>
            </a:r>
            <a:endParaRPr sz="900">
              <a:solidFill>
                <a:srgbClr val="B06000"/>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END</a:t>
            </a: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AS</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persentase_gross_laba</a:t>
            </a:r>
            <a:r>
              <a:rPr lang="en" sz="900">
                <a:solidFill>
                  <a:srgbClr val="202124"/>
                </a:solidFill>
                <a:highlight>
                  <a:srgbClr val="FFFFFF"/>
                </a:highlight>
                <a:latin typeface="Roboto Mono"/>
                <a:ea typeface="Roboto Mono"/>
                <a:cs typeface="Roboto Mono"/>
                <a:sym typeface="Roboto Mono"/>
              </a:rPr>
              <a:t>,</a:t>
            </a:r>
            <a:endParaRPr sz="9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t/>
            </a:r>
            <a:endParaRPr sz="900">
              <a:solidFill>
                <a:srgbClr val="1967D2"/>
              </a:solidFill>
              <a:highlight>
                <a:srgbClr val="FFFFFF"/>
              </a:highlight>
              <a:latin typeface="Roboto Mono"/>
              <a:ea typeface="Roboto Mono"/>
              <a:cs typeface="Roboto Mono"/>
              <a:sym typeface="Roboto Mono"/>
            </a:endParaRPr>
          </a:p>
        </p:txBody>
      </p:sp>
      <p:sp>
        <p:nvSpPr>
          <p:cNvPr id="193" name="Google Shape;193;g3aa9153eee5_0_49"/>
          <p:cNvSpPr txBox="1"/>
          <p:nvPr/>
        </p:nvSpPr>
        <p:spPr>
          <a:xfrm>
            <a:off x="1079925" y="3033450"/>
            <a:ext cx="4371600" cy="507900"/>
          </a:xfrm>
          <a:prstGeom prst="rect">
            <a:avLst/>
          </a:prstGeom>
          <a:noFill/>
          <a:ln>
            <a:noFill/>
          </a:ln>
          <a:effectLst>
            <a:outerShdw blurRad="57150" rotWithShape="0" algn="bl" dir="2820000" dist="19050">
              <a:srgbClr val="B7B7B7">
                <a:alpha val="85100"/>
              </a:srgbClr>
            </a:outerShdw>
          </a:effectLst>
        </p:spPr>
        <p:txBody>
          <a:bodyPr anchorCtr="0" anchor="t" bIns="91425" lIns="91425" spcFirstLastPara="1" rIns="91425" wrap="square" tIns="91425">
            <a:spAutoFit/>
          </a:bodyPr>
          <a:lstStyle/>
          <a:p>
            <a:pPr indent="0" lvl="0" marL="0" rtl="0" algn="l">
              <a:lnSpc>
                <a:spcPct val="133333"/>
              </a:lnSpc>
              <a:spcBef>
                <a:spcPts val="0"/>
              </a:spcBef>
              <a:spcAft>
                <a:spcPts val="0"/>
              </a:spcAft>
              <a:buClr>
                <a:schemeClr val="dk1"/>
              </a:buClr>
              <a:buSzPts val="1100"/>
              <a:buFont typeface="Arial"/>
              <a:buNone/>
            </a:pPr>
            <a:r>
              <a:rPr lang="en" sz="900">
                <a:solidFill>
                  <a:schemeClr val="dk1"/>
                </a:solidFill>
                <a:highlight>
                  <a:srgbClr val="FFFFFF"/>
                </a:highlight>
                <a:latin typeface="Roboto Mono"/>
                <a:ea typeface="Roboto Mono"/>
                <a:cs typeface="Roboto Mono"/>
                <a:sym typeface="Roboto Mono"/>
              </a:rPr>
              <a:t>tf.price</a:t>
            </a:r>
            <a:r>
              <a:rPr lang="en" sz="900">
                <a:solidFill>
                  <a:srgbClr val="202124"/>
                </a:solidFill>
                <a:highlight>
                  <a:srgbClr val="FFFFFF"/>
                </a:highlight>
                <a:latin typeface="Roboto Mono"/>
                <a:ea typeface="Roboto Mono"/>
                <a:cs typeface="Roboto Mono"/>
                <a:sym typeface="Roboto Mono"/>
              </a:rPr>
              <a:t> </a:t>
            </a:r>
            <a:r>
              <a:rPr lang="en" sz="900">
                <a:solidFill>
                  <a:srgbClr val="3C4043"/>
                </a:solidFill>
                <a:highlight>
                  <a:srgbClr val="FFFFFF"/>
                </a:highlight>
                <a:latin typeface="Roboto Mono"/>
                <a:ea typeface="Roboto Mono"/>
                <a:cs typeface="Roboto Mono"/>
                <a:sym typeface="Roboto Mono"/>
              </a:rPr>
              <a:t>-</a:t>
            </a:r>
            <a:r>
              <a:rPr lang="en" sz="900">
                <a:solidFill>
                  <a:srgbClr val="202124"/>
                </a:solidFill>
                <a:highlight>
                  <a:srgbClr val="FFFFFF"/>
                </a:highlight>
                <a:latin typeface="Roboto Mono"/>
                <a:ea typeface="Roboto Mono"/>
                <a:cs typeface="Roboto Mono"/>
                <a:sym typeface="Roboto Mono"/>
              </a:rPr>
              <a:t> </a:t>
            </a:r>
            <a:r>
              <a:rPr lang="en" sz="900">
                <a:solidFill>
                  <a:srgbClr val="3C4043"/>
                </a:solidFill>
                <a:highlight>
                  <a:srgbClr val="FFFFFF"/>
                </a:highlight>
                <a:latin typeface="Roboto Mono"/>
                <a:ea typeface="Roboto Mono"/>
                <a:cs typeface="Roboto Mono"/>
                <a:sym typeface="Roboto Mono"/>
              </a:rPr>
              <a:t>(</a:t>
            </a:r>
            <a:r>
              <a:rPr lang="en" sz="900">
                <a:solidFill>
                  <a:schemeClr val="dk1"/>
                </a:solidFill>
                <a:highlight>
                  <a:srgbClr val="FFFFFF"/>
                </a:highlight>
                <a:latin typeface="Roboto Mono"/>
                <a:ea typeface="Roboto Mono"/>
                <a:cs typeface="Roboto Mono"/>
                <a:sym typeface="Roboto Mono"/>
              </a:rPr>
              <a:t>tf.price</a:t>
            </a:r>
            <a:r>
              <a:rPr lang="en" sz="900">
                <a:solidFill>
                  <a:srgbClr val="202124"/>
                </a:solidFill>
                <a:highlight>
                  <a:srgbClr val="FFFFFF"/>
                </a:highlight>
                <a:latin typeface="Roboto Mono"/>
                <a:ea typeface="Roboto Mono"/>
                <a:cs typeface="Roboto Mono"/>
                <a:sym typeface="Roboto Mono"/>
              </a:rPr>
              <a:t> </a:t>
            </a:r>
            <a:r>
              <a:rPr lang="en" sz="900">
                <a:solidFill>
                  <a:srgbClr val="3C4043"/>
                </a:solidFill>
                <a:highlight>
                  <a:srgbClr val="FFFFFF"/>
                </a:highlight>
                <a:latin typeface="Roboto Mono"/>
                <a:ea typeface="Roboto Mono"/>
                <a:cs typeface="Roboto Mono"/>
                <a:sym typeface="Roboto Mono"/>
              </a:rPr>
              <a:t>*</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tf.discount_percentage</a:t>
            </a:r>
            <a:r>
              <a:rPr lang="en" sz="900">
                <a:solidFill>
                  <a:srgbClr val="3C4043"/>
                </a:solidFill>
                <a:highlight>
                  <a:srgbClr val="FFFFFF"/>
                </a:highlight>
                <a:latin typeface="Roboto Mono"/>
                <a:ea typeface="Roboto Mono"/>
                <a:cs typeface="Roboto Mono"/>
                <a:sym typeface="Roboto Mono"/>
              </a:rPr>
              <a:t>)</a:t>
            </a: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AS</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net_sales</a:t>
            </a:r>
            <a:endParaRPr sz="900">
              <a:solidFill>
                <a:schemeClr val="dk1"/>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t/>
            </a:r>
            <a:endParaRPr sz="900">
              <a:solidFill>
                <a:srgbClr val="1967D2"/>
              </a:solidFill>
              <a:highlight>
                <a:srgbClr val="FFFFFF"/>
              </a:highlight>
              <a:latin typeface="Roboto Mono"/>
              <a:ea typeface="Roboto Mono"/>
              <a:cs typeface="Roboto Mono"/>
              <a:sym typeface="Roboto Mono"/>
            </a:endParaRPr>
          </a:p>
        </p:txBody>
      </p:sp>
      <p:sp>
        <p:nvSpPr>
          <p:cNvPr id="194" name="Google Shape;194;g3aa9153eee5_0_49"/>
          <p:cNvSpPr txBox="1"/>
          <p:nvPr/>
        </p:nvSpPr>
        <p:spPr>
          <a:xfrm>
            <a:off x="591150" y="756425"/>
            <a:ext cx="4524900" cy="461700"/>
          </a:xfrm>
          <a:prstGeom prst="rect">
            <a:avLst/>
          </a:prstGeom>
          <a:noFill/>
          <a:ln>
            <a:noFill/>
          </a:ln>
          <a:effectLst>
            <a:outerShdw blurRad="57150" rotWithShape="0" algn="bl" dir="2820000" dist="19050">
              <a:srgbClr val="B7B7B7">
                <a:alpha val="85100"/>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n" sz="1800">
                <a:solidFill>
                  <a:srgbClr val="019FAB"/>
                </a:solidFill>
                <a:latin typeface="Rubik"/>
                <a:ea typeface="Rubik"/>
                <a:cs typeface="Rubik"/>
                <a:sym typeface="Rubik"/>
              </a:rPr>
              <a:t>3</a:t>
            </a:r>
            <a:r>
              <a:rPr b="1" lang="en" sz="1800">
                <a:solidFill>
                  <a:srgbClr val="019FAB"/>
                </a:solidFill>
                <a:latin typeface="Rubik"/>
                <a:ea typeface="Rubik"/>
                <a:cs typeface="Rubik"/>
                <a:sym typeface="Rubik"/>
              </a:rPr>
              <a:t>.   Membuat kolom persentase laba</a:t>
            </a:r>
            <a:endParaRPr b="1" i="0" sz="1800" u="none" cap="none" strike="noStrike">
              <a:solidFill>
                <a:srgbClr val="019FAB"/>
              </a:solidFill>
              <a:latin typeface="Rubik"/>
              <a:ea typeface="Rubik"/>
              <a:cs typeface="Rubik"/>
              <a:sym typeface="Rubik"/>
            </a:endParaRPr>
          </a:p>
        </p:txBody>
      </p:sp>
      <p:sp>
        <p:nvSpPr>
          <p:cNvPr id="195" name="Google Shape;195;g3aa9153eee5_0_49"/>
          <p:cNvSpPr txBox="1"/>
          <p:nvPr/>
        </p:nvSpPr>
        <p:spPr>
          <a:xfrm>
            <a:off x="643300" y="2571750"/>
            <a:ext cx="4936500" cy="461700"/>
          </a:xfrm>
          <a:prstGeom prst="rect">
            <a:avLst/>
          </a:prstGeom>
          <a:noFill/>
          <a:ln>
            <a:noFill/>
          </a:ln>
          <a:effectLst>
            <a:outerShdw blurRad="57150" rotWithShape="0" algn="bl" dir="2820000" dist="19050">
              <a:srgbClr val="B7B7B7">
                <a:alpha val="85100"/>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n" sz="1800">
                <a:solidFill>
                  <a:srgbClr val="019FAB"/>
                </a:solidFill>
                <a:latin typeface="Rubik"/>
                <a:ea typeface="Rubik"/>
                <a:cs typeface="Rubik"/>
                <a:sym typeface="Rubik"/>
              </a:rPr>
              <a:t>4</a:t>
            </a:r>
            <a:r>
              <a:rPr b="1" lang="en" sz="1800">
                <a:solidFill>
                  <a:srgbClr val="019FAB"/>
                </a:solidFill>
                <a:latin typeface="Rubik"/>
                <a:ea typeface="Rubik"/>
                <a:cs typeface="Rubik"/>
                <a:sym typeface="Rubik"/>
              </a:rPr>
              <a:t>.   Menghitung Harga Diskon</a:t>
            </a:r>
            <a:endParaRPr b="1" i="0" sz="1800" u="none" cap="none" strike="noStrike">
              <a:solidFill>
                <a:srgbClr val="019FAB"/>
              </a:solidFill>
              <a:latin typeface="Rubik"/>
              <a:ea typeface="Rubik"/>
              <a:cs typeface="Rubik"/>
              <a:sym typeface="Rubik"/>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g3aa9153eee5_0_62"/>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201" name="Google Shape;201;g3aa9153eee5_0_62"/>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202" name="Google Shape;202;g3aa9153eee5_0_62"/>
          <p:cNvSpPr txBox="1"/>
          <p:nvPr/>
        </p:nvSpPr>
        <p:spPr>
          <a:xfrm>
            <a:off x="440775" y="156113"/>
            <a:ext cx="8463000" cy="600300"/>
          </a:xfrm>
          <a:prstGeom prst="rect">
            <a:avLst/>
          </a:prstGeom>
          <a:noFill/>
          <a:ln>
            <a:noFill/>
          </a:ln>
          <a:effectLst>
            <a:outerShdw blurRad="57150" rotWithShape="0" algn="bl" dir="2820000" dist="19050">
              <a:srgbClr val="B7B7B7">
                <a:alpha val="85100"/>
              </a:srgbClr>
            </a:outerShdw>
          </a:effectLst>
        </p:spPr>
        <p:txBody>
          <a:bodyPr anchorCtr="0" anchor="t" bIns="91425" lIns="91425" spcFirstLastPara="1" rIns="91425" wrap="square" tIns="91425">
            <a:spAutoFit/>
          </a:bodyPr>
          <a:lstStyle/>
          <a:p>
            <a:pPr indent="-400050" lvl="0" marL="457200" marR="0" rtl="0" algn="l">
              <a:lnSpc>
                <a:spcPct val="100000"/>
              </a:lnSpc>
              <a:spcBef>
                <a:spcPts val="0"/>
              </a:spcBef>
              <a:spcAft>
                <a:spcPts val="0"/>
              </a:spcAft>
              <a:buClr>
                <a:srgbClr val="000000"/>
              </a:buClr>
              <a:buSzPts val="2700"/>
              <a:buFont typeface="Rubik"/>
              <a:buAutoNum type="arabicPeriod" startAt="3"/>
            </a:pPr>
            <a:r>
              <a:rPr b="1" i="0" lang="en" sz="2700" u="none" cap="none" strike="noStrike">
                <a:solidFill>
                  <a:srgbClr val="000000"/>
                </a:solidFill>
                <a:latin typeface="Rubik"/>
                <a:ea typeface="Rubik"/>
                <a:cs typeface="Rubik"/>
                <a:sym typeface="Rubik"/>
              </a:rPr>
              <a:t>BigQuery Syntax</a:t>
            </a:r>
            <a:endParaRPr b="1" i="0" sz="2700" u="none" cap="none" strike="noStrike">
              <a:solidFill>
                <a:srgbClr val="000000"/>
              </a:solidFill>
              <a:latin typeface="Rubik"/>
              <a:ea typeface="Rubik"/>
              <a:cs typeface="Rubik"/>
              <a:sym typeface="Rubik"/>
            </a:endParaRPr>
          </a:p>
        </p:txBody>
      </p:sp>
      <p:sp>
        <p:nvSpPr>
          <p:cNvPr id="203" name="Google Shape;203;g3aa9153eee5_0_62"/>
          <p:cNvSpPr txBox="1"/>
          <p:nvPr/>
        </p:nvSpPr>
        <p:spPr>
          <a:xfrm>
            <a:off x="1100100" y="3242575"/>
            <a:ext cx="3246300" cy="1616100"/>
          </a:xfrm>
          <a:prstGeom prst="rect">
            <a:avLst/>
          </a:prstGeom>
          <a:noFill/>
          <a:ln>
            <a:noFill/>
          </a:ln>
          <a:effectLst>
            <a:outerShdw blurRad="57150" rotWithShape="0" algn="bl" dir="2820000" dist="19050">
              <a:srgbClr val="B7B7B7">
                <a:alpha val="85100"/>
              </a:srgbClr>
            </a:outerShdw>
          </a:effectLst>
        </p:spPr>
        <p:txBody>
          <a:bodyPr anchorCtr="0" anchor="t" bIns="91425" lIns="91425" spcFirstLastPara="1" rIns="91425" wrap="square" tIns="91425">
            <a:spAutoFit/>
          </a:bodyPr>
          <a:lstStyle/>
          <a:p>
            <a:pPr indent="0" lvl="0" marL="0" rtl="0" algn="l">
              <a:lnSpc>
                <a:spcPct val="133333"/>
              </a:lnSpc>
              <a:spcBef>
                <a:spcPts val="0"/>
              </a:spcBef>
              <a:spcAft>
                <a:spcPts val="0"/>
              </a:spcAft>
              <a:buClr>
                <a:schemeClr val="dk1"/>
              </a:buClr>
              <a:buSzPts val="1100"/>
              <a:buFont typeface="Arial"/>
              <a:buNone/>
            </a:pPr>
            <a:r>
              <a:rPr lang="en" sz="900">
                <a:solidFill>
                  <a:srgbClr val="1967D2"/>
                </a:solidFill>
                <a:highlight>
                  <a:srgbClr val="FFFFFF"/>
                </a:highlight>
                <a:latin typeface="Roboto Mono"/>
                <a:ea typeface="Roboto Mono"/>
                <a:cs typeface="Roboto Mono"/>
                <a:sym typeface="Roboto Mono"/>
              </a:rPr>
              <a:t>FROM</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kimia_farma.kf_final_transaction</a:t>
            </a: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AS</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tf</a:t>
            </a:r>
            <a:endParaRPr sz="900">
              <a:solidFill>
                <a:schemeClr val="dk1"/>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rPr lang="en" sz="900">
                <a:solidFill>
                  <a:srgbClr val="1967D2"/>
                </a:solidFill>
                <a:highlight>
                  <a:srgbClr val="FFFFFF"/>
                </a:highlight>
                <a:latin typeface="Roboto Mono"/>
                <a:ea typeface="Roboto Mono"/>
                <a:cs typeface="Roboto Mono"/>
                <a:sym typeface="Roboto Mono"/>
              </a:rPr>
              <a:t>JOIN</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kimia_farma.kf_product</a:t>
            </a: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AS</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p</a:t>
            </a:r>
            <a:endParaRPr sz="900">
              <a:solidFill>
                <a:schemeClr val="dk1"/>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rPr lang="en" sz="900">
                <a:solidFill>
                  <a:srgbClr val="1967D2"/>
                </a:solidFill>
                <a:highlight>
                  <a:srgbClr val="FFFFFF"/>
                </a:highlight>
                <a:latin typeface="Roboto Mono"/>
                <a:ea typeface="Roboto Mono"/>
                <a:cs typeface="Roboto Mono"/>
                <a:sym typeface="Roboto Mono"/>
              </a:rPr>
              <a:t>ON</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tf.product_id</a:t>
            </a:r>
            <a:r>
              <a:rPr lang="en" sz="900">
                <a:solidFill>
                  <a:srgbClr val="202124"/>
                </a:solidFill>
                <a:highlight>
                  <a:srgbClr val="FFFFFF"/>
                </a:highlight>
                <a:latin typeface="Roboto Mono"/>
                <a:ea typeface="Roboto Mono"/>
                <a:cs typeface="Roboto Mono"/>
                <a:sym typeface="Roboto Mono"/>
              </a:rPr>
              <a:t>=</a:t>
            </a:r>
            <a:r>
              <a:rPr lang="en" sz="900">
                <a:solidFill>
                  <a:schemeClr val="dk1"/>
                </a:solidFill>
                <a:highlight>
                  <a:srgbClr val="FFFFFF"/>
                </a:highlight>
                <a:latin typeface="Roboto Mono"/>
                <a:ea typeface="Roboto Mono"/>
                <a:cs typeface="Roboto Mono"/>
                <a:sym typeface="Roboto Mono"/>
              </a:rPr>
              <a:t>p.product_id</a:t>
            </a:r>
            <a:endParaRPr sz="900">
              <a:solidFill>
                <a:schemeClr val="dk1"/>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rPr lang="en" sz="900">
                <a:solidFill>
                  <a:srgbClr val="1967D2"/>
                </a:solidFill>
                <a:highlight>
                  <a:srgbClr val="FFFFFF"/>
                </a:highlight>
                <a:latin typeface="Roboto Mono"/>
                <a:ea typeface="Roboto Mono"/>
                <a:cs typeface="Roboto Mono"/>
                <a:sym typeface="Roboto Mono"/>
              </a:rPr>
              <a:t>JOIN</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kimia_farma.kf_kantor_cabang</a:t>
            </a: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as</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kc</a:t>
            </a:r>
            <a:endParaRPr sz="900">
              <a:solidFill>
                <a:schemeClr val="dk1"/>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rPr lang="en" sz="900">
                <a:solidFill>
                  <a:srgbClr val="1967D2"/>
                </a:solidFill>
                <a:highlight>
                  <a:srgbClr val="FFFFFF"/>
                </a:highlight>
                <a:latin typeface="Roboto Mono"/>
                <a:ea typeface="Roboto Mono"/>
                <a:cs typeface="Roboto Mono"/>
                <a:sym typeface="Roboto Mono"/>
              </a:rPr>
              <a:t>ON</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tf.branch_id</a:t>
            </a:r>
            <a:r>
              <a:rPr lang="en" sz="900">
                <a:solidFill>
                  <a:srgbClr val="202124"/>
                </a:solidFill>
                <a:highlight>
                  <a:srgbClr val="FFFFFF"/>
                </a:highlight>
                <a:latin typeface="Roboto Mono"/>
                <a:ea typeface="Roboto Mono"/>
                <a:cs typeface="Roboto Mono"/>
                <a:sym typeface="Roboto Mono"/>
              </a:rPr>
              <a:t>=</a:t>
            </a:r>
            <a:r>
              <a:rPr lang="en" sz="900">
                <a:solidFill>
                  <a:schemeClr val="dk1"/>
                </a:solidFill>
                <a:highlight>
                  <a:srgbClr val="FFFFFF"/>
                </a:highlight>
                <a:latin typeface="Roboto Mono"/>
                <a:ea typeface="Roboto Mono"/>
                <a:cs typeface="Roboto Mono"/>
                <a:sym typeface="Roboto Mono"/>
              </a:rPr>
              <a:t>kc.branch_id</a:t>
            </a:r>
            <a:endParaRPr sz="900">
              <a:solidFill>
                <a:schemeClr val="dk1"/>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rPr lang="en" sz="900">
                <a:solidFill>
                  <a:srgbClr val="1967D2"/>
                </a:solidFill>
                <a:highlight>
                  <a:srgbClr val="FFFFFF"/>
                </a:highlight>
                <a:latin typeface="Roboto Mono"/>
                <a:ea typeface="Roboto Mono"/>
                <a:cs typeface="Roboto Mono"/>
                <a:sym typeface="Roboto Mono"/>
              </a:rPr>
              <a:t>JOIN</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kimia_farma.kf_inventory</a:t>
            </a: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AS</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i</a:t>
            </a:r>
            <a:endParaRPr sz="900">
              <a:solidFill>
                <a:schemeClr val="dk1"/>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rPr lang="en" sz="900">
                <a:solidFill>
                  <a:srgbClr val="1967D2"/>
                </a:solidFill>
                <a:highlight>
                  <a:srgbClr val="FFFFFF"/>
                </a:highlight>
                <a:latin typeface="Roboto Mono"/>
                <a:ea typeface="Roboto Mono"/>
                <a:cs typeface="Roboto Mono"/>
                <a:sym typeface="Roboto Mono"/>
              </a:rPr>
              <a:t>ON</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tf.product_id</a:t>
            </a:r>
            <a:r>
              <a:rPr lang="en" sz="900">
                <a:solidFill>
                  <a:srgbClr val="202124"/>
                </a:solidFill>
                <a:highlight>
                  <a:srgbClr val="FFFFFF"/>
                </a:highlight>
                <a:latin typeface="Roboto Mono"/>
                <a:ea typeface="Roboto Mono"/>
                <a:cs typeface="Roboto Mono"/>
                <a:sym typeface="Roboto Mono"/>
              </a:rPr>
              <a:t>=</a:t>
            </a:r>
            <a:r>
              <a:rPr lang="en" sz="900">
                <a:solidFill>
                  <a:schemeClr val="dk1"/>
                </a:solidFill>
                <a:highlight>
                  <a:srgbClr val="FFFFFF"/>
                </a:highlight>
                <a:latin typeface="Roboto Mono"/>
                <a:ea typeface="Roboto Mono"/>
                <a:cs typeface="Roboto Mono"/>
                <a:sym typeface="Roboto Mono"/>
              </a:rPr>
              <a:t>i.product_id</a:t>
            </a:r>
            <a:endParaRPr sz="900">
              <a:solidFill>
                <a:schemeClr val="dk1"/>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1"/>
              </a:buClr>
              <a:buSzPts val="1100"/>
              <a:buFont typeface="Arial"/>
              <a:buNone/>
            </a:pPr>
            <a:r>
              <a:t/>
            </a:r>
            <a:endParaRPr sz="900">
              <a:solidFill>
                <a:srgbClr val="202124"/>
              </a:solidFill>
              <a:highlight>
                <a:srgbClr val="FFFFFF"/>
              </a:highlight>
              <a:latin typeface="Roboto Mono"/>
              <a:ea typeface="Roboto Mono"/>
              <a:cs typeface="Roboto Mono"/>
              <a:sym typeface="Roboto Mono"/>
            </a:endParaRPr>
          </a:p>
        </p:txBody>
      </p:sp>
      <p:sp>
        <p:nvSpPr>
          <p:cNvPr id="204" name="Google Shape;204;g3aa9153eee5_0_62"/>
          <p:cNvSpPr txBox="1"/>
          <p:nvPr/>
        </p:nvSpPr>
        <p:spPr>
          <a:xfrm>
            <a:off x="1029700" y="1131525"/>
            <a:ext cx="4461900" cy="1985700"/>
          </a:xfrm>
          <a:prstGeom prst="rect">
            <a:avLst/>
          </a:prstGeom>
          <a:noFill/>
          <a:ln>
            <a:noFill/>
          </a:ln>
        </p:spPr>
        <p:txBody>
          <a:bodyPr anchorCtr="0" anchor="t" bIns="91425" lIns="91425" spcFirstLastPara="1" rIns="91425" wrap="square" tIns="91425">
            <a:spAutoFit/>
          </a:bodyPr>
          <a:lstStyle/>
          <a:p>
            <a:pPr indent="0" lvl="0" marL="0" rtl="0" algn="l">
              <a:lnSpc>
                <a:spcPct val="133333"/>
              </a:lnSpc>
              <a:spcBef>
                <a:spcPts val="0"/>
              </a:spcBef>
              <a:spcAft>
                <a:spcPts val="0"/>
              </a:spcAft>
              <a:buNone/>
            </a:pPr>
            <a:r>
              <a:rPr lang="en" sz="900">
                <a:solidFill>
                  <a:srgbClr val="202124"/>
                </a:solidFill>
                <a:highlight>
                  <a:srgbClr val="FFFFFF"/>
                </a:highlight>
                <a:latin typeface="Roboto Mono"/>
                <a:ea typeface="Roboto Mono"/>
                <a:cs typeface="Roboto Mono"/>
                <a:sym typeface="Roboto Mono"/>
              </a:rPr>
              <a:t>  </a:t>
            </a:r>
            <a:r>
              <a:rPr lang="en" sz="900">
                <a:solidFill>
                  <a:srgbClr val="3C4043"/>
                </a:solidFill>
                <a:highlight>
                  <a:srgbClr val="FFFFFF"/>
                </a:highlight>
                <a:latin typeface="Roboto Mono"/>
                <a:ea typeface="Roboto Mono"/>
                <a:cs typeface="Roboto Mono"/>
                <a:sym typeface="Roboto Mono"/>
              </a:rPr>
              <a:t>(</a:t>
            </a:r>
            <a:r>
              <a:rPr lang="en" sz="900">
                <a:solidFill>
                  <a:schemeClr val="dk1"/>
                </a:solidFill>
                <a:highlight>
                  <a:srgbClr val="FFFFFF"/>
                </a:highlight>
                <a:latin typeface="Roboto Mono"/>
                <a:ea typeface="Roboto Mono"/>
                <a:cs typeface="Roboto Mono"/>
                <a:sym typeface="Roboto Mono"/>
              </a:rPr>
              <a:t>tf.price</a:t>
            </a:r>
            <a:r>
              <a:rPr lang="en" sz="900">
                <a:solidFill>
                  <a:srgbClr val="3C4043"/>
                </a:solidFill>
                <a:highlight>
                  <a:srgbClr val="FFFFFF"/>
                </a:highlight>
                <a:latin typeface="Roboto Mono"/>
                <a:ea typeface="Roboto Mono"/>
                <a:cs typeface="Roboto Mono"/>
                <a:sym typeface="Roboto Mono"/>
              </a:rPr>
              <a:t>-</a:t>
            </a:r>
            <a:r>
              <a:rPr lang="en" sz="900">
                <a:solidFill>
                  <a:srgbClr val="202124"/>
                </a:solidFill>
                <a:highlight>
                  <a:srgbClr val="FFFFFF"/>
                </a:highlight>
                <a:latin typeface="Roboto Mono"/>
                <a:ea typeface="Roboto Mono"/>
                <a:cs typeface="Roboto Mono"/>
                <a:sym typeface="Roboto Mono"/>
              </a:rPr>
              <a:t> </a:t>
            </a:r>
            <a:r>
              <a:rPr lang="en" sz="900">
                <a:solidFill>
                  <a:srgbClr val="3C4043"/>
                </a:solidFill>
                <a:highlight>
                  <a:srgbClr val="FFFFFF"/>
                </a:highlight>
                <a:latin typeface="Roboto Mono"/>
                <a:ea typeface="Roboto Mono"/>
                <a:cs typeface="Roboto Mono"/>
                <a:sym typeface="Roboto Mono"/>
              </a:rPr>
              <a:t>(</a:t>
            </a:r>
            <a:r>
              <a:rPr lang="en" sz="900">
                <a:solidFill>
                  <a:schemeClr val="dk1"/>
                </a:solidFill>
                <a:highlight>
                  <a:srgbClr val="FFFFFF"/>
                </a:highlight>
                <a:latin typeface="Roboto Mono"/>
                <a:ea typeface="Roboto Mono"/>
                <a:cs typeface="Roboto Mono"/>
                <a:sym typeface="Roboto Mono"/>
              </a:rPr>
              <a:t>tf.price</a:t>
            </a:r>
            <a:r>
              <a:rPr lang="en" sz="900">
                <a:solidFill>
                  <a:srgbClr val="202124"/>
                </a:solidFill>
                <a:highlight>
                  <a:srgbClr val="FFFFFF"/>
                </a:highlight>
                <a:latin typeface="Roboto Mono"/>
                <a:ea typeface="Roboto Mono"/>
                <a:cs typeface="Roboto Mono"/>
                <a:sym typeface="Roboto Mono"/>
              </a:rPr>
              <a:t> </a:t>
            </a:r>
            <a:r>
              <a:rPr lang="en" sz="900">
                <a:solidFill>
                  <a:srgbClr val="3C4043"/>
                </a:solidFill>
                <a:highlight>
                  <a:srgbClr val="FFFFFF"/>
                </a:highlight>
                <a:latin typeface="Roboto Mono"/>
                <a:ea typeface="Roboto Mono"/>
                <a:cs typeface="Roboto Mono"/>
                <a:sym typeface="Roboto Mono"/>
              </a:rPr>
              <a:t>*</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tf.discount_percentage</a:t>
            </a:r>
            <a:r>
              <a:rPr lang="en" sz="900">
                <a:solidFill>
                  <a:srgbClr val="3C4043"/>
                </a:solidFill>
                <a:highlight>
                  <a:srgbClr val="FFFFFF"/>
                </a:highlight>
                <a:latin typeface="Roboto Mono"/>
                <a:ea typeface="Roboto Mono"/>
                <a:cs typeface="Roboto Mono"/>
                <a:sym typeface="Roboto Mono"/>
              </a:rPr>
              <a:t>))</a:t>
            </a:r>
            <a:r>
              <a:rPr lang="en" sz="900">
                <a:solidFill>
                  <a:srgbClr val="202124"/>
                </a:solidFill>
                <a:highlight>
                  <a:srgbClr val="FFFFFF"/>
                </a:highlight>
                <a:latin typeface="Roboto Mono"/>
                <a:ea typeface="Roboto Mono"/>
                <a:cs typeface="Roboto Mono"/>
                <a:sym typeface="Roboto Mono"/>
              </a:rPr>
              <a:t> </a:t>
            </a:r>
            <a:r>
              <a:rPr lang="en" sz="900">
                <a:solidFill>
                  <a:srgbClr val="3C4043"/>
                </a:solidFill>
                <a:highlight>
                  <a:srgbClr val="FFFFFF"/>
                </a:highlight>
                <a:latin typeface="Roboto Mono"/>
                <a:ea typeface="Roboto Mono"/>
                <a:cs typeface="Roboto Mono"/>
                <a:sym typeface="Roboto Mono"/>
              </a:rPr>
              <a:t>*</a:t>
            </a:r>
            <a:endParaRPr sz="900">
              <a:solidFill>
                <a:srgbClr val="3C4043"/>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None/>
            </a:pP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CASE</a:t>
            </a:r>
            <a:endParaRPr sz="900">
              <a:solidFill>
                <a:srgbClr val="1967D2"/>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None/>
            </a:pP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WHEN</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tf.price</a:t>
            </a:r>
            <a:r>
              <a:rPr lang="en" sz="900">
                <a:solidFill>
                  <a:srgbClr val="202124"/>
                </a:solidFill>
                <a:highlight>
                  <a:srgbClr val="FFFFFF"/>
                </a:highlight>
                <a:latin typeface="Roboto Mono"/>
                <a:ea typeface="Roboto Mono"/>
                <a:cs typeface="Roboto Mono"/>
                <a:sym typeface="Roboto Mono"/>
              </a:rPr>
              <a:t> </a:t>
            </a:r>
            <a:r>
              <a:rPr lang="en" sz="900">
                <a:solidFill>
                  <a:srgbClr val="3C4043"/>
                </a:solidFill>
                <a:highlight>
                  <a:srgbClr val="FFFFFF"/>
                </a:highlight>
                <a:latin typeface="Roboto Mono"/>
                <a:ea typeface="Roboto Mono"/>
                <a:cs typeface="Roboto Mono"/>
                <a:sym typeface="Roboto Mono"/>
              </a:rPr>
              <a:t>&lt;=</a:t>
            </a:r>
            <a:r>
              <a:rPr lang="en" sz="900">
                <a:solidFill>
                  <a:srgbClr val="B06000"/>
                </a:solidFill>
                <a:highlight>
                  <a:srgbClr val="FFFFFF"/>
                </a:highlight>
                <a:latin typeface="Roboto Mono"/>
                <a:ea typeface="Roboto Mono"/>
                <a:cs typeface="Roboto Mono"/>
                <a:sym typeface="Roboto Mono"/>
              </a:rPr>
              <a:t>50000</a:t>
            </a: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THEN</a:t>
            </a:r>
            <a:r>
              <a:rPr lang="en" sz="900">
                <a:solidFill>
                  <a:srgbClr val="202124"/>
                </a:solidFill>
                <a:highlight>
                  <a:srgbClr val="FFFFFF"/>
                </a:highlight>
                <a:latin typeface="Roboto Mono"/>
                <a:ea typeface="Roboto Mono"/>
                <a:cs typeface="Roboto Mono"/>
                <a:sym typeface="Roboto Mono"/>
              </a:rPr>
              <a:t> </a:t>
            </a:r>
            <a:r>
              <a:rPr lang="en" sz="900">
                <a:solidFill>
                  <a:srgbClr val="B06000"/>
                </a:solidFill>
                <a:highlight>
                  <a:srgbClr val="FFFFFF"/>
                </a:highlight>
                <a:latin typeface="Roboto Mono"/>
                <a:ea typeface="Roboto Mono"/>
                <a:cs typeface="Roboto Mono"/>
                <a:sym typeface="Roboto Mono"/>
              </a:rPr>
              <a:t>0.1</a:t>
            </a:r>
            <a:endParaRPr sz="900">
              <a:solidFill>
                <a:srgbClr val="B06000"/>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None/>
            </a:pP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WHEN</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tf.price</a:t>
            </a:r>
            <a:r>
              <a:rPr lang="en" sz="900">
                <a:solidFill>
                  <a:srgbClr val="202124"/>
                </a:solidFill>
                <a:highlight>
                  <a:srgbClr val="FFFFFF"/>
                </a:highlight>
                <a:latin typeface="Roboto Mono"/>
                <a:ea typeface="Roboto Mono"/>
                <a:cs typeface="Roboto Mono"/>
                <a:sym typeface="Roboto Mono"/>
              </a:rPr>
              <a:t> </a:t>
            </a:r>
            <a:r>
              <a:rPr lang="en" sz="900">
                <a:solidFill>
                  <a:srgbClr val="3C4043"/>
                </a:solidFill>
                <a:highlight>
                  <a:srgbClr val="FFFFFF"/>
                </a:highlight>
                <a:latin typeface="Roboto Mono"/>
                <a:ea typeface="Roboto Mono"/>
                <a:cs typeface="Roboto Mono"/>
                <a:sym typeface="Roboto Mono"/>
              </a:rPr>
              <a:t>&gt;</a:t>
            </a:r>
            <a:r>
              <a:rPr lang="en" sz="900">
                <a:solidFill>
                  <a:srgbClr val="202124"/>
                </a:solidFill>
                <a:highlight>
                  <a:srgbClr val="FFFFFF"/>
                </a:highlight>
                <a:latin typeface="Roboto Mono"/>
                <a:ea typeface="Roboto Mono"/>
                <a:cs typeface="Roboto Mono"/>
                <a:sym typeface="Roboto Mono"/>
              </a:rPr>
              <a:t> </a:t>
            </a:r>
            <a:r>
              <a:rPr lang="en" sz="900">
                <a:solidFill>
                  <a:srgbClr val="B06000"/>
                </a:solidFill>
                <a:highlight>
                  <a:srgbClr val="FFFFFF"/>
                </a:highlight>
                <a:latin typeface="Roboto Mono"/>
                <a:ea typeface="Roboto Mono"/>
                <a:cs typeface="Roboto Mono"/>
                <a:sym typeface="Roboto Mono"/>
              </a:rPr>
              <a:t>50000</a:t>
            </a: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AND</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tf.price</a:t>
            </a:r>
            <a:r>
              <a:rPr lang="en" sz="900">
                <a:solidFill>
                  <a:srgbClr val="202124"/>
                </a:solidFill>
                <a:highlight>
                  <a:srgbClr val="FFFFFF"/>
                </a:highlight>
                <a:latin typeface="Roboto Mono"/>
                <a:ea typeface="Roboto Mono"/>
                <a:cs typeface="Roboto Mono"/>
                <a:sym typeface="Roboto Mono"/>
              </a:rPr>
              <a:t> </a:t>
            </a:r>
            <a:r>
              <a:rPr lang="en" sz="900">
                <a:solidFill>
                  <a:srgbClr val="3C4043"/>
                </a:solidFill>
                <a:highlight>
                  <a:srgbClr val="FFFFFF"/>
                </a:highlight>
                <a:latin typeface="Roboto Mono"/>
                <a:ea typeface="Roboto Mono"/>
                <a:cs typeface="Roboto Mono"/>
                <a:sym typeface="Roboto Mono"/>
              </a:rPr>
              <a:t>&lt;=</a:t>
            </a:r>
            <a:r>
              <a:rPr lang="en" sz="900">
                <a:solidFill>
                  <a:srgbClr val="202124"/>
                </a:solidFill>
                <a:highlight>
                  <a:srgbClr val="FFFFFF"/>
                </a:highlight>
                <a:latin typeface="Roboto Mono"/>
                <a:ea typeface="Roboto Mono"/>
                <a:cs typeface="Roboto Mono"/>
                <a:sym typeface="Roboto Mono"/>
              </a:rPr>
              <a:t> </a:t>
            </a:r>
            <a:r>
              <a:rPr lang="en" sz="900">
                <a:solidFill>
                  <a:srgbClr val="B06000"/>
                </a:solidFill>
                <a:highlight>
                  <a:srgbClr val="FFFFFF"/>
                </a:highlight>
                <a:latin typeface="Roboto Mono"/>
                <a:ea typeface="Roboto Mono"/>
                <a:cs typeface="Roboto Mono"/>
                <a:sym typeface="Roboto Mono"/>
              </a:rPr>
              <a:t>100000</a:t>
            </a: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THEN</a:t>
            </a:r>
            <a:r>
              <a:rPr lang="en" sz="900">
                <a:solidFill>
                  <a:srgbClr val="202124"/>
                </a:solidFill>
                <a:highlight>
                  <a:srgbClr val="FFFFFF"/>
                </a:highlight>
                <a:latin typeface="Roboto Mono"/>
                <a:ea typeface="Roboto Mono"/>
                <a:cs typeface="Roboto Mono"/>
                <a:sym typeface="Roboto Mono"/>
              </a:rPr>
              <a:t> </a:t>
            </a:r>
            <a:r>
              <a:rPr lang="en" sz="900">
                <a:solidFill>
                  <a:srgbClr val="B06000"/>
                </a:solidFill>
                <a:highlight>
                  <a:srgbClr val="FFFFFF"/>
                </a:highlight>
                <a:latin typeface="Roboto Mono"/>
                <a:ea typeface="Roboto Mono"/>
                <a:cs typeface="Roboto Mono"/>
                <a:sym typeface="Roboto Mono"/>
              </a:rPr>
              <a:t>0.15</a:t>
            </a:r>
            <a:endParaRPr sz="900">
              <a:solidFill>
                <a:srgbClr val="B06000"/>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None/>
            </a:pP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WHEN</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tf.price</a:t>
            </a:r>
            <a:r>
              <a:rPr lang="en" sz="900">
                <a:solidFill>
                  <a:srgbClr val="202124"/>
                </a:solidFill>
                <a:highlight>
                  <a:srgbClr val="FFFFFF"/>
                </a:highlight>
                <a:latin typeface="Roboto Mono"/>
                <a:ea typeface="Roboto Mono"/>
                <a:cs typeface="Roboto Mono"/>
                <a:sym typeface="Roboto Mono"/>
              </a:rPr>
              <a:t> </a:t>
            </a:r>
            <a:r>
              <a:rPr lang="en" sz="900">
                <a:solidFill>
                  <a:srgbClr val="3C4043"/>
                </a:solidFill>
                <a:highlight>
                  <a:srgbClr val="FFFFFF"/>
                </a:highlight>
                <a:latin typeface="Roboto Mono"/>
                <a:ea typeface="Roboto Mono"/>
                <a:cs typeface="Roboto Mono"/>
                <a:sym typeface="Roboto Mono"/>
              </a:rPr>
              <a:t>&gt;</a:t>
            </a:r>
            <a:r>
              <a:rPr lang="en" sz="900">
                <a:solidFill>
                  <a:srgbClr val="202124"/>
                </a:solidFill>
                <a:highlight>
                  <a:srgbClr val="FFFFFF"/>
                </a:highlight>
                <a:latin typeface="Roboto Mono"/>
                <a:ea typeface="Roboto Mono"/>
                <a:cs typeface="Roboto Mono"/>
                <a:sym typeface="Roboto Mono"/>
              </a:rPr>
              <a:t> </a:t>
            </a:r>
            <a:r>
              <a:rPr lang="en" sz="900">
                <a:solidFill>
                  <a:srgbClr val="B06000"/>
                </a:solidFill>
                <a:highlight>
                  <a:srgbClr val="FFFFFF"/>
                </a:highlight>
                <a:latin typeface="Roboto Mono"/>
                <a:ea typeface="Roboto Mono"/>
                <a:cs typeface="Roboto Mono"/>
                <a:sym typeface="Roboto Mono"/>
              </a:rPr>
              <a:t>100000</a:t>
            </a: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AND</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tf.price</a:t>
            </a:r>
            <a:r>
              <a:rPr lang="en" sz="900">
                <a:solidFill>
                  <a:srgbClr val="202124"/>
                </a:solidFill>
                <a:highlight>
                  <a:srgbClr val="FFFFFF"/>
                </a:highlight>
                <a:latin typeface="Roboto Mono"/>
                <a:ea typeface="Roboto Mono"/>
                <a:cs typeface="Roboto Mono"/>
                <a:sym typeface="Roboto Mono"/>
              </a:rPr>
              <a:t> </a:t>
            </a:r>
            <a:r>
              <a:rPr lang="en" sz="900">
                <a:solidFill>
                  <a:srgbClr val="3C4043"/>
                </a:solidFill>
                <a:highlight>
                  <a:srgbClr val="FFFFFF"/>
                </a:highlight>
                <a:latin typeface="Roboto Mono"/>
                <a:ea typeface="Roboto Mono"/>
                <a:cs typeface="Roboto Mono"/>
                <a:sym typeface="Roboto Mono"/>
              </a:rPr>
              <a:t>&lt;=</a:t>
            </a:r>
            <a:r>
              <a:rPr lang="en" sz="900">
                <a:solidFill>
                  <a:srgbClr val="202124"/>
                </a:solidFill>
                <a:highlight>
                  <a:srgbClr val="FFFFFF"/>
                </a:highlight>
                <a:latin typeface="Roboto Mono"/>
                <a:ea typeface="Roboto Mono"/>
                <a:cs typeface="Roboto Mono"/>
                <a:sym typeface="Roboto Mono"/>
              </a:rPr>
              <a:t> </a:t>
            </a:r>
            <a:r>
              <a:rPr lang="en" sz="900">
                <a:solidFill>
                  <a:srgbClr val="B06000"/>
                </a:solidFill>
                <a:highlight>
                  <a:srgbClr val="FFFFFF"/>
                </a:highlight>
                <a:latin typeface="Roboto Mono"/>
                <a:ea typeface="Roboto Mono"/>
                <a:cs typeface="Roboto Mono"/>
                <a:sym typeface="Roboto Mono"/>
              </a:rPr>
              <a:t>300000</a:t>
            </a: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THEN</a:t>
            </a:r>
            <a:r>
              <a:rPr lang="en" sz="900">
                <a:solidFill>
                  <a:srgbClr val="202124"/>
                </a:solidFill>
                <a:highlight>
                  <a:srgbClr val="FFFFFF"/>
                </a:highlight>
                <a:latin typeface="Roboto Mono"/>
                <a:ea typeface="Roboto Mono"/>
                <a:cs typeface="Roboto Mono"/>
                <a:sym typeface="Roboto Mono"/>
              </a:rPr>
              <a:t> </a:t>
            </a:r>
            <a:r>
              <a:rPr lang="en" sz="900">
                <a:solidFill>
                  <a:srgbClr val="B06000"/>
                </a:solidFill>
                <a:highlight>
                  <a:srgbClr val="FFFFFF"/>
                </a:highlight>
                <a:latin typeface="Roboto Mono"/>
                <a:ea typeface="Roboto Mono"/>
                <a:cs typeface="Roboto Mono"/>
                <a:sym typeface="Roboto Mono"/>
              </a:rPr>
              <a:t>0.2</a:t>
            </a:r>
            <a:endParaRPr sz="900">
              <a:solidFill>
                <a:srgbClr val="B06000"/>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None/>
            </a:pP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WHEN</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tf.price</a:t>
            </a:r>
            <a:r>
              <a:rPr lang="en" sz="900">
                <a:solidFill>
                  <a:srgbClr val="202124"/>
                </a:solidFill>
                <a:highlight>
                  <a:srgbClr val="FFFFFF"/>
                </a:highlight>
                <a:latin typeface="Roboto Mono"/>
                <a:ea typeface="Roboto Mono"/>
                <a:cs typeface="Roboto Mono"/>
                <a:sym typeface="Roboto Mono"/>
              </a:rPr>
              <a:t> </a:t>
            </a:r>
            <a:r>
              <a:rPr lang="en" sz="900">
                <a:solidFill>
                  <a:srgbClr val="3C4043"/>
                </a:solidFill>
                <a:highlight>
                  <a:srgbClr val="FFFFFF"/>
                </a:highlight>
                <a:latin typeface="Roboto Mono"/>
                <a:ea typeface="Roboto Mono"/>
                <a:cs typeface="Roboto Mono"/>
                <a:sym typeface="Roboto Mono"/>
              </a:rPr>
              <a:t>&gt;</a:t>
            </a:r>
            <a:r>
              <a:rPr lang="en" sz="900">
                <a:solidFill>
                  <a:srgbClr val="202124"/>
                </a:solidFill>
                <a:highlight>
                  <a:srgbClr val="FFFFFF"/>
                </a:highlight>
                <a:latin typeface="Roboto Mono"/>
                <a:ea typeface="Roboto Mono"/>
                <a:cs typeface="Roboto Mono"/>
                <a:sym typeface="Roboto Mono"/>
              </a:rPr>
              <a:t> </a:t>
            </a:r>
            <a:r>
              <a:rPr lang="en" sz="900">
                <a:solidFill>
                  <a:srgbClr val="B06000"/>
                </a:solidFill>
                <a:highlight>
                  <a:srgbClr val="FFFFFF"/>
                </a:highlight>
                <a:latin typeface="Roboto Mono"/>
                <a:ea typeface="Roboto Mono"/>
                <a:cs typeface="Roboto Mono"/>
                <a:sym typeface="Roboto Mono"/>
              </a:rPr>
              <a:t>300000</a:t>
            </a: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AND</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tf.price</a:t>
            </a:r>
            <a:r>
              <a:rPr lang="en" sz="900">
                <a:solidFill>
                  <a:srgbClr val="202124"/>
                </a:solidFill>
                <a:highlight>
                  <a:srgbClr val="FFFFFF"/>
                </a:highlight>
                <a:latin typeface="Roboto Mono"/>
                <a:ea typeface="Roboto Mono"/>
                <a:cs typeface="Roboto Mono"/>
                <a:sym typeface="Roboto Mono"/>
              </a:rPr>
              <a:t> </a:t>
            </a:r>
            <a:r>
              <a:rPr lang="en" sz="900">
                <a:solidFill>
                  <a:srgbClr val="3C4043"/>
                </a:solidFill>
                <a:highlight>
                  <a:srgbClr val="FFFFFF"/>
                </a:highlight>
                <a:latin typeface="Roboto Mono"/>
                <a:ea typeface="Roboto Mono"/>
                <a:cs typeface="Roboto Mono"/>
                <a:sym typeface="Roboto Mono"/>
              </a:rPr>
              <a:t>&lt;=</a:t>
            </a:r>
            <a:r>
              <a:rPr lang="en" sz="900">
                <a:solidFill>
                  <a:srgbClr val="202124"/>
                </a:solidFill>
                <a:highlight>
                  <a:srgbClr val="FFFFFF"/>
                </a:highlight>
                <a:latin typeface="Roboto Mono"/>
                <a:ea typeface="Roboto Mono"/>
                <a:cs typeface="Roboto Mono"/>
                <a:sym typeface="Roboto Mono"/>
              </a:rPr>
              <a:t> </a:t>
            </a:r>
            <a:r>
              <a:rPr lang="en" sz="900">
                <a:solidFill>
                  <a:srgbClr val="B06000"/>
                </a:solidFill>
                <a:highlight>
                  <a:srgbClr val="FFFFFF"/>
                </a:highlight>
                <a:latin typeface="Roboto Mono"/>
                <a:ea typeface="Roboto Mono"/>
                <a:cs typeface="Roboto Mono"/>
                <a:sym typeface="Roboto Mono"/>
              </a:rPr>
              <a:t>500000</a:t>
            </a: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THEN</a:t>
            </a:r>
            <a:r>
              <a:rPr lang="en" sz="900">
                <a:solidFill>
                  <a:srgbClr val="202124"/>
                </a:solidFill>
                <a:highlight>
                  <a:srgbClr val="FFFFFF"/>
                </a:highlight>
                <a:latin typeface="Roboto Mono"/>
                <a:ea typeface="Roboto Mono"/>
                <a:cs typeface="Roboto Mono"/>
                <a:sym typeface="Roboto Mono"/>
              </a:rPr>
              <a:t> </a:t>
            </a:r>
            <a:r>
              <a:rPr lang="en" sz="900">
                <a:solidFill>
                  <a:srgbClr val="B06000"/>
                </a:solidFill>
                <a:highlight>
                  <a:srgbClr val="FFFFFF"/>
                </a:highlight>
                <a:latin typeface="Roboto Mono"/>
                <a:ea typeface="Roboto Mono"/>
                <a:cs typeface="Roboto Mono"/>
                <a:sym typeface="Roboto Mono"/>
              </a:rPr>
              <a:t>0.25</a:t>
            </a:r>
            <a:endParaRPr sz="900">
              <a:solidFill>
                <a:srgbClr val="B06000"/>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None/>
            </a:pP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WHEN</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tf.price</a:t>
            </a:r>
            <a:r>
              <a:rPr lang="en" sz="900">
                <a:solidFill>
                  <a:srgbClr val="202124"/>
                </a:solidFill>
                <a:highlight>
                  <a:srgbClr val="FFFFFF"/>
                </a:highlight>
                <a:latin typeface="Roboto Mono"/>
                <a:ea typeface="Roboto Mono"/>
                <a:cs typeface="Roboto Mono"/>
                <a:sym typeface="Roboto Mono"/>
              </a:rPr>
              <a:t> </a:t>
            </a:r>
            <a:r>
              <a:rPr lang="en" sz="900">
                <a:solidFill>
                  <a:srgbClr val="3C4043"/>
                </a:solidFill>
                <a:highlight>
                  <a:srgbClr val="FFFFFF"/>
                </a:highlight>
                <a:latin typeface="Roboto Mono"/>
                <a:ea typeface="Roboto Mono"/>
                <a:cs typeface="Roboto Mono"/>
                <a:sym typeface="Roboto Mono"/>
              </a:rPr>
              <a:t>&gt;</a:t>
            </a:r>
            <a:r>
              <a:rPr lang="en" sz="900">
                <a:solidFill>
                  <a:srgbClr val="202124"/>
                </a:solidFill>
                <a:highlight>
                  <a:srgbClr val="FFFFFF"/>
                </a:highlight>
                <a:latin typeface="Roboto Mono"/>
                <a:ea typeface="Roboto Mono"/>
                <a:cs typeface="Roboto Mono"/>
                <a:sym typeface="Roboto Mono"/>
              </a:rPr>
              <a:t> </a:t>
            </a:r>
            <a:r>
              <a:rPr lang="en" sz="900">
                <a:solidFill>
                  <a:srgbClr val="B06000"/>
                </a:solidFill>
                <a:highlight>
                  <a:srgbClr val="FFFFFF"/>
                </a:highlight>
                <a:latin typeface="Roboto Mono"/>
                <a:ea typeface="Roboto Mono"/>
                <a:cs typeface="Roboto Mono"/>
                <a:sym typeface="Roboto Mono"/>
              </a:rPr>
              <a:t>500000</a:t>
            </a: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THEN</a:t>
            </a:r>
            <a:r>
              <a:rPr lang="en" sz="900">
                <a:solidFill>
                  <a:srgbClr val="202124"/>
                </a:solidFill>
                <a:highlight>
                  <a:srgbClr val="FFFFFF"/>
                </a:highlight>
                <a:latin typeface="Roboto Mono"/>
                <a:ea typeface="Roboto Mono"/>
                <a:cs typeface="Roboto Mono"/>
                <a:sym typeface="Roboto Mono"/>
              </a:rPr>
              <a:t> </a:t>
            </a:r>
            <a:r>
              <a:rPr lang="en" sz="900">
                <a:solidFill>
                  <a:srgbClr val="B06000"/>
                </a:solidFill>
                <a:highlight>
                  <a:srgbClr val="FFFFFF"/>
                </a:highlight>
                <a:latin typeface="Roboto Mono"/>
                <a:ea typeface="Roboto Mono"/>
                <a:cs typeface="Roboto Mono"/>
                <a:sym typeface="Roboto Mono"/>
              </a:rPr>
              <a:t>0.3</a:t>
            </a:r>
            <a:endParaRPr sz="900">
              <a:solidFill>
                <a:srgbClr val="B06000"/>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None/>
            </a:pP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END</a:t>
            </a: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AS</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net_profit</a:t>
            </a:r>
            <a:r>
              <a:rPr lang="en" sz="900">
                <a:solidFill>
                  <a:srgbClr val="202124"/>
                </a:solidFill>
                <a:highlight>
                  <a:srgbClr val="FFFFFF"/>
                </a:highlight>
                <a:latin typeface="Roboto Mono"/>
                <a:ea typeface="Roboto Mono"/>
                <a:cs typeface="Roboto Mono"/>
                <a:sym typeface="Roboto Mono"/>
              </a:rPr>
              <a:t>,</a:t>
            </a:r>
            <a:endParaRPr sz="9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None/>
            </a:pP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tf.rating</a:t>
            </a:r>
            <a:r>
              <a:rPr lang="en" sz="900">
                <a:solidFill>
                  <a:srgbClr val="202124"/>
                </a:solidFill>
                <a:highlight>
                  <a:srgbClr val="FFFFFF"/>
                </a:highlight>
                <a:latin typeface="Roboto Mono"/>
                <a:ea typeface="Roboto Mono"/>
                <a:cs typeface="Roboto Mono"/>
                <a:sym typeface="Roboto Mono"/>
              </a:rPr>
              <a:t> </a:t>
            </a:r>
            <a:r>
              <a:rPr lang="en" sz="900">
                <a:solidFill>
                  <a:srgbClr val="1967D2"/>
                </a:solidFill>
                <a:highlight>
                  <a:srgbClr val="FFFFFF"/>
                </a:highlight>
                <a:latin typeface="Roboto Mono"/>
                <a:ea typeface="Roboto Mono"/>
                <a:cs typeface="Roboto Mono"/>
                <a:sym typeface="Roboto Mono"/>
              </a:rPr>
              <a:t>AS</a:t>
            </a:r>
            <a:r>
              <a:rPr lang="en" sz="900">
                <a:solidFill>
                  <a:srgbClr val="202124"/>
                </a:solidFill>
                <a:highlight>
                  <a:srgbClr val="FFFFFF"/>
                </a:highlight>
                <a:latin typeface="Roboto Mono"/>
                <a:ea typeface="Roboto Mono"/>
                <a:cs typeface="Roboto Mono"/>
                <a:sym typeface="Roboto Mono"/>
              </a:rPr>
              <a:t> </a:t>
            </a:r>
            <a:r>
              <a:rPr lang="en" sz="900">
                <a:solidFill>
                  <a:schemeClr val="dk1"/>
                </a:solidFill>
                <a:highlight>
                  <a:srgbClr val="FFFFFF"/>
                </a:highlight>
                <a:latin typeface="Roboto Mono"/>
                <a:ea typeface="Roboto Mono"/>
                <a:cs typeface="Roboto Mono"/>
                <a:sym typeface="Roboto Mono"/>
              </a:rPr>
              <a:t>rating_transaksi</a:t>
            </a:r>
            <a:endParaRPr sz="900">
              <a:solidFill>
                <a:schemeClr val="dk1"/>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None/>
            </a:pPr>
            <a:r>
              <a:t/>
            </a:r>
            <a:endParaRPr sz="900">
              <a:solidFill>
                <a:schemeClr val="dk1"/>
              </a:solidFill>
              <a:highlight>
                <a:srgbClr val="FFFFFF"/>
              </a:highlight>
              <a:latin typeface="Roboto Mono"/>
              <a:ea typeface="Roboto Mono"/>
              <a:cs typeface="Roboto Mono"/>
              <a:sym typeface="Roboto Mono"/>
            </a:endParaRPr>
          </a:p>
        </p:txBody>
      </p:sp>
      <p:sp>
        <p:nvSpPr>
          <p:cNvPr id="205" name="Google Shape;205;g3aa9153eee5_0_62"/>
          <p:cNvSpPr txBox="1"/>
          <p:nvPr/>
        </p:nvSpPr>
        <p:spPr>
          <a:xfrm>
            <a:off x="591150" y="756425"/>
            <a:ext cx="6417300" cy="461700"/>
          </a:xfrm>
          <a:prstGeom prst="rect">
            <a:avLst/>
          </a:prstGeom>
          <a:noFill/>
          <a:ln>
            <a:noFill/>
          </a:ln>
          <a:effectLst>
            <a:outerShdw blurRad="57150" rotWithShape="0" algn="bl" dir="2820000" dist="19050">
              <a:srgbClr val="B7B7B7">
                <a:alpha val="85100"/>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n" sz="1800">
                <a:solidFill>
                  <a:srgbClr val="019FAB"/>
                </a:solidFill>
                <a:latin typeface="Rubik"/>
                <a:ea typeface="Rubik"/>
                <a:cs typeface="Rubik"/>
                <a:sym typeface="Rubik"/>
              </a:rPr>
              <a:t>5</a:t>
            </a:r>
            <a:r>
              <a:rPr b="1" lang="en" sz="1800">
                <a:solidFill>
                  <a:srgbClr val="019FAB"/>
                </a:solidFill>
                <a:latin typeface="Rubik"/>
                <a:ea typeface="Rubik"/>
                <a:cs typeface="Rubik"/>
                <a:sym typeface="Rubik"/>
              </a:rPr>
              <a:t>.   Membuat kolom profit beserta </a:t>
            </a:r>
            <a:r>
              <a:rPr b="1" lang="en" sz="1800">
                <a:solidFill>
                  <a:srgbClr val="019FAB"/>
                </a:solidFill>
                <a:latin typeface="Rubik"/>
                <a:ea typeface="Rubik"/>
                <a:cs typeface="Rubik"/>
                <a:sym typeface="Rubik"/>
              </a:rPr>
              <a:t>rating transaksi</a:t>
            </a:r>
            <a:endParaRPr b="1" i="0" sz="1800" u="none" cap="none" strike="noStrike">
              <a:solidFill>
                <a:srgbClr val="019FAB"/>
              </a:solidFill>
              <a:latin typeface="Rubik"/>
              <a:ea typeface="Rubik"/>
              <a:cs typeface="Rubik"/>
              <a:sym typeface="Rubik"/>
            </a:endParaRPr>
          </a:p>
        </p:txBody>
      </p:sp>
      <p:sp>
        <p:nvSpPr>
          <p:cNvPr id="206" name="Google Shape;206;g3aa9153eee5_0_62"/>
          <p:cNvSpPr txBox="1"/>
          <p:nvPr/>
        </p:nvSpPr>
        <p:spPr>
          <a:xfrm>
            <a:off x="655825" y="2780875"/>
            <a:ext cx="7192200" cy="461700"/>
          </a:xfrm>
          <a:prstGeom prst="rect">
            <a:avLst/>
          </a:prstGeom>
          <a:noFill/>
          <a:ln>
            <a:noFill/>
          </a:ln>
          <a:effectLst>
            <a:outerShdw blurRad="57150" rotWithShape="0" algn="bl" dir="2820000" dist="19050">
              <a:srgbClr val="B7B7B7">
                <a:alpha val="85100"/>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n" sz="1800">
                <a:solidFill>
                  <a:srgbClr val="019FAB"/>
                </a:solidFill>
                <a:latin typeface="Rubik"/>
                <a:ea typeface="Rubik"/>
                <a:cs typeface="Rubik"/>
                <a:sym typeface="Rubik"/>
              </a:rPr>
              <a:t>6</a:t>
            </a:r>
            <a:r>
              <a:rPr b="1" lang="en" sz="1800">
                <a:solidFill>
                  <a:srgbClr val="019FAB"/>
                </a:solidFill>
                <a:latin typeface="Rubik"/>
                <a:ea typeface="Rubik"/>
                <a:cs typeface="Rubik"/>
                <a:sym typeface="Rubik"/>
              </a:rPr>
              <a:t>.   Menggabungkan beberapa tabel menggunakan Join</a:t>
            </a:r>
            <a:endParaRPr b="1" i="0" sz="1800" u="none" cap="none" strike="noStrike">
              <a:solidFill>
                <a:srgbClr val="019FAB"/>
              </a:solidFill>
              <a:latin typeface="Rubik"/>
              <a:ea typeface="Rubik"/>
              <a:cs typeface="Rubik"/>
              <a:sym typeface="Rubik"/>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g23ec2985a68_1_56"/>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212" name="Google Shape;212;g23ec2985a68_1_56"/>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213" name="Google Shape;213;g23ec2985a68_1_56"/>
          <p:cNvSpPr txBox="1"/>
          <p:nvPr/>
        </p:nvSpPr>
        <p:spPr>
          <a:xfrm>
            <a:off x="399225" y="64513"/>
            <a:ext cx="8463000" cy="600300"/>
          </a:xfrm>
          <a:prstGeom prst="rect">
            <a:avLst/>
          </a:prstGeom>
          <a:noFill/>
          <a:ln>
            <a:noFill/>
          </a:ln>
          <a:effectLst>
            <a:outerShdw blurRad="57150" rotWithShape="0" algn="bl" dir="2820000" dist="19050">
              <a:srgbClr val="B7B7B7">
                <a:alpha val="85098"/>
              </a:srgbClr>
            </a:outerShdw>
          </a:effectLst>
        </p:spPr>
        <p:txBody>
          <a:bodyPr anchorCtr="0" anchor="t" bIns="91425" lIns="91425" spcFirstLastPara="1" rIns="91425" wrap="square" tIns="91425">
            <a:spAutoFit/>
          </a:bodyPr>
          <a:lstStyle/>
          <a:p>
            <a:pPr indent="-400050" lvl="0" marL="457200" marR="0" rtl="0" algn="l">
              <a:lnSpc>
                <a:spcPct val="100000"/>
              </a:lnSpc>
              <a:spcBef>
                <a:spcPts val="0"/>
              </a:spcBef>
              <a:spcAft>
                <a:spcPts val="0"/>
              </a:spcAft>
              <a:buClr>
                <a:srgbClr val="000000"/>
              </a:buClr>
              <a:buSzPts val="2700"/>
              <a:buFont typeface="Rubik"/>
              <a:buAutoNum type="arabicPeriod" startAt="4"/>
            </a:pPr>
            <a:r>
              <a:rPr b="1" i="0" lang="en" sz="2700" u="none" cap="none" strike="noStrike">
                <a:solidFill>
                  <a:srgbClr val="000000"/>
                </a:solidFill>
                <a:latin typeface="Rubik"/>
                <a:ea typeface="Rubik"/>
                <a:cs typeface="Rubik"/>
                <a:sym typeface="Rubik"/>
              </a:rPr>
              <a:t>Dashboard  Performance Analytics</a:t>
            </a:r>
            <a:endParaRPr b="1" i="0" sz="2700" u="none" cap="none" strike="noStrike">
              <a:solidFill>
                <a:srgbClr val="000000"/>
              </a:solidFill>
              <a:latin typeface="Rubik"/>
              <a:ea typeface="Rubik"/>
              <a:cs typeface="Rubik"/>
              <a:sym typeface="Rubik"/>
            </a:endParaRPr>
          </a:p>
        </p:txBody>
      </p:sp>
      <p:pic>
        <p:nvPicPr>
          <p:cNvPr id="214" name="Google Shape;214;g23ec2985a68_1_56" title="Kimia_Farma_Analytics_page-0001.jpg"/>
          <p:cNvPicPr preferRelativeResize="0"/>
          <p:nvPr/>
        </p:nvPicPr>
        <p:blipFill>
          <a:blip r:embed="rId5">
            <a:alphaModFix/>
          </a:blip>
          <a:stretch>
            <a:fillRect/>
          </a:stretch>
        </p:blipFill>
        <p:spPr>
          <a:xfrm>
            <a:off x="999075" y="570875"/>
            <a:ext cx="4121452" cy="4204975"/>
          </a:xfrm>
          <a:prstGeom prst="rect">
            <a:avLst/>
          </a:prstGeom>
          <a:noFill/>
          <a:ln>
            <a:noFill/>
          </a:ln>
        </p:spPr>
      </p:pic>
      <p:sp>
        <p:nvSpPr>
          <p:cNvPr id="215" name="Google Shape;215;g23ec2985a68_1_56"/>
          <p:cNvSpPr txBox="1"/>
          <p:nvPr/>
        </p:nvSpPr>
        <p:spPr>
          <a:xfrm>
            <a:off x="5662600" y="964863"/>
            <a:ext cx="3054900" cy="34170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chemeClr val="dk1"/>
              </a:buClr>
              <a:buSzPts val="1100"/>
              <a:buFont typeface="Arial"/>
              <a:buNone/>
            </a:pPr>
            <a:r>
              <a:rPr lang="en" sz="1200">
                <a:latin typeface="Rubik"/>
                <a:ea typeface="Rubik"/>
                <a:cs typeface="Rubik"/>
                <a:sym typeface="Rubik"/>
              </a:rPr>
              <a:t>Berikut adalah hasil </a:t>
            </a:r>
            <a:r>
              <a:rPr lang="en" sz="1200" u="sng">
                <a:solidFill>
                  <a:schemeClr val="hlink"/>
                </a:solidFill>
                <a:latin typeface="Rubik"/>
                <a:ea typeface="Rubik"/>
                <a:cs typeface="Rubik"/>
                <a:sym typeface="Rubik"/>
                <a:hlinkClick r:id="rId6"/>
              </a:rPr>
              <a:t>Dashoboard</a:t>
            </a:r>
            <a:r>
              <a:rPr lang="en" sz="1200">
                <a:latin typeface="Rubik"/>
                <a:ea typeface="Rubik"/>
                <a:cs typeface="Rubik"/>
                <a:sym typeface="Rubik"/>
              </a:rPr>
              <a:t> google Locker Studio yang terdiri dari:</a:t>
            </a:r>
            <a:endParaRPr sz="1200">
              <a:latin typeface="Rubik"/>
              <a:ea typeface="Rubik"/>
              <a:cs typeface="Rubik"/>
              <a:sym typeface="Rubik"/>
            </a:endParaRPr>
          </a:p>
          <a:p>
            <a:pPr indent="-304800" lvl="0" marL="457200" marR="0" rtl="0" algn="just">
              <a:lnSpc>
                <a:spcPct val="150000"/>
              </a:lnSpc>
              <a:spcBef>
                <a:spcPts val="0"/>
              </a:spcBef>
              <a:spcAft>
                <a:spcPts val="0"/>
              </a:spcAft>
              <a:buSzPts val="1200"/>
              <a:buFont typeface="Rubik"/>
              <a:buChar char="●"/>
            </a:pPr>
            <a:r>
              <a:rPr lang="en" sz="1200">
                <a:latin typeface="Rubik"/>
                <a:ea typeface="Rubik"/>
                <a:cs typeface="Rubik"/>
                <a:sym typeface="Rubik"/>
              </a:rPr>
              <a:t>Tren Total Revenue per Year</a:t>
            </a:r>
            <a:endParaRPr sz="1200">
              <a:latin typeface="Rubik"/>
              <a:ea typeface="Rubik"/>
              <a:cs typeface="Rubik"/>
              <a:sym typeface="Rubik"/>
            </a:endParaRPr>
          </a:p>
          <a:p>
            <a:pPr indent="-304800" lvl="0" marL="457200" marR="0" rtl="0" algn="just">
              <a:lnSpc>
                <a:spcPct val="150000"/>
              </a:lnSpc>
              <a:spcBef>
                <a:spcPts val="0"/>
              </a:spcBef>
              <a:spcAft>
                <a:spcPts val="0"/>
              </a:spcAft>
              <a:buSzPts val="1200"/>
              <a:buFont typeface="Rubik"/>
              <a:buChar char="●"/>
            </a:pPr>
            <a:r>
              <a:rPr lang="en" sz="1200">
                <a:latin typeface="Rubik"/>
                <a:ea typeface="Rubik"/>
                <a:cs typeface="Rubik"/>
                <a:sym typeface="Rubik"/>
              </a:rPr>
              <a:t>Tren Total Sales Per Year</a:t>
            </a:r>
            <a:endParaRPr sz="1200">
              <a:latin typeface="Rubik"/>
              <a:ea typeface="Rubik"/>
              <a:cs typeface="Rubik"/>
              <a:sym typeface="Rubik"/>
            </a:endParaRPr>
          </a:p>
          <a:p>
            <a:pPr indent="-304800" lvl="0" marL="457200" marR="0" rtl="0" algn="just">
              <a:lnSpc>
                <a:spcPct val="150000"/>
              </a:lnSpc>
              <a:spcBef>
                <a:spcPts val="0"/>
              </a:spcBef>
              <a:spcAft>
                <a:spcPts val="0"/>
              </a:spcAft>
              <a:buSzPts val="1200"/>
              <a:buFont typeface="Rubik"/>
              <a:buChar char="●"/>
            </a:pPr>
            <a:r>
              <a:rPr lang="en" sz="1200">
                <a:latin typeface="Rubik"/>
                <a:ea typeface="Rubik"/>
                <a:cs typeface="Rubik"/>
                <a:sym typeface="Rubik"/>
              </a:rPr>
              <a:t>Customer </a:t>
            </a:r>
            <a:r>
              <a:rPr lang="en" sz="1200">
                <a:latin typeface="Rubik"/>
                <a:ea typeface="Rubik"/>
                <a:cs typeface="Rubik"/>
                <a:sym typeface="Rubik"/>
              </a:rPr>
              <a:t>Ranking</a:t>
            </a:r>
            <a:r>
              <a:rPr lang="en" sz="1200">
                <a:latin typeface="Rubik"/>
                <a:ea typeface="Rubik"/>
                <a:cs typeface="Rubik"/>
                <a:sym typeface="Rubik"/>
              </a:rPr>
              <a:t> by Total Transaction</a:t>
            </a:r>
            <a:endParaRPr sz="1200">
              <a:latin typeface="Rubik"/>
              <a:ea typeface="Rubik"/>
              <a:cs typeface="Rubik"/>
              <a:sym typeface="Rubik"/>
            </a:endParaRPr>
          </a:p>
          <a:p>
            <a:pPr indent="-304800" lvl="0" marL="457200" marR="0" rtl="0" algn="just">
              <a:lnSpc>
                <a:spcPct val="150000"/>
              </a:lnSpc>
              <a:spcBef>
                <a:spcPts val="0"/>
              </a:spcBef>
              <a:spcAft>
                <a:spcPts val="0"/>
              </a:spcAft>
              <a:buSzPts val="1200"/>
              <a:buFont typeface="Rubik"/>
              <a:buChar char="●"/>
            </a:pPr>
            <a:r>
              <a:rPr lang="en" sz="1200">
                <a:latin typeface="Rubik"/>
                <a:ea typeface="Rubik"/>
                <a:cs typeface="Rubik"/>
                <a:sym typeface="Rubik"/>
              </a:rPr>
              <a:t>Total Transaction by Product Category</a:t>
            </a:r>
            <a:endParaRPr sz="1200">
              <a:latin typeface="Rubik"/>
              <a:ea typeface="Rubik"/>
              <a:cs typeface="Rubik"/>
              <a:sym typeface="Rubik"/>
            </a:endParaRPr>
          </a:p>
          <a:p>
            <a:pPr indent="-304800" lvl="0" marL="457200" marR="0" rtl="0" algn="just">
              <a:lnSpc>
                <a:spcPct val="150000"/>
              </a:lnSpc>
              <a:spcBef>
                <a:spcPts val="0"/>
              </a:spcBef>
              <a:spcAft>
                <a:spcPts val="0"/>
              </a:spcAft>
              <a:buSzPts val="1200"/>
              <a:buFont typeface="Rubik"/>
              <a:buChar char="●"/>
            </a:pPr>
            <a:r>
              <a:rPr lang="en" sz="1200">
                <a:latin typeface="Rubik"/>
                <a:ea typeface="Rubik"/>
                <a:cs typeface="Rubik"/>
                <a:sym typeface="Rubik"/>
              </a:rPr>
              <a:t>Kimia Farma Total Profit Map</a:t>
            </a:r>
            <a:endParaRPr sz="1200">
              <a:latin typeface="Rubik"/>
              <a:ea typeface="Rubik"/>
              <a:cs typeface="Rubik"/>
              <a:sym typeface="Rubik"/>
            </a:endParaRPr>
          </a:p>
          <a:p>
            <a:pPr indent="-304800" lvl="0" marL="457200" marR="0" rtl="0" algn="just">
              <a:lnSpc>
                <a:spcPct val="150000"/>
              </a:lnSpc>
              <a:spcBef>
                <a:spcPts val="0"/>
              </a:spcBef>
              <a:spcAft>
                <a:spcPts val="0"/>
              </a:spcAft>
              <a:buSzPts val="1200"/>
              <a:buFont typeface="Rubik"/>
              <a:buChar char="●"/>
            </a:pPr>
            <a:r>
              <a:rPr lang="en" sz="1200">
                <a:latin typeface="Rubik"/>
                <a:ea typeface="Rubik"/>
                <a:cs typeface="Rubik"/>
                <a:sym typeface="Rubik"/>
              </a:rPr>
              <a:t>Province ranking by Sales and Total Transaction</a:t>
            </a:r>
            <a:endParaRPr sz="1200">
              <a:latin typeface="Rubik"/>
              <a:ea typeface="Rubik"/>
              <a:cs typeface="Rubik"/>
              <a:sym typeface="Rubik"/>
            </a:endParaRPr>
          </a:p>
          <a:p>
            <a:pPr indent="0" lvl="0" marL="0" marR="0" rtl="0" algn="just">
              <a:lnSpc>
                <a:spcPct val="150000"/>
              </a:lnSpc>
              <a:spcBef>
                <a:spcPts val="0"/>
              </a:spcBef>
              <a:spcAft>
                <a:spcPts val="0"/>
              </a:spcAft>
              <a:buNone/>
            </a:pPr>
            <a:r>
              <a:t/>
            </a:r>
            <a:endParaRPr sz="1200">
              <a:latin typeface="Rubik"/>
              <a:ea typeface="Rubik"/>
              <a:cs typeface="Rubik"/>
              <a:sym typeface="Rubik"/>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9FAB"/>
        </a:solidFill>
      </p:bgPr>
    </p:bg>
    <p:spTree>
      <p:nvGrpSpPr>
        <p:cNvPr id="219" name="Shape 219"/>
        <p:cNvGrpSpPr/>
        <p:nvPr/>
      </p:nvGrpSpPr>
      <p:grpSpPr>
        <a:xfrm>
          <a:off x="0" y="0"/>
          <a:ext cx="0" cy="0"/>
          <a:chOff x="0" y="0"/>
          <a:chExt cx="0" cy="0"/>
        </a:xfrm>
      </p:grpSpPr>
      <p:pic>
        <p:nvPicPr>
          <p:cNvPr id="220" name="Google Shape;220;p8"/>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221" name="Google Shape;221;p8"/>
          <p:cNvPicPr preferRelativeResize="0"/>
          <p:nvPr/>
        </p:nvPicPr>
        <p:blipFill rotWithShape="1">
          <a:blip r:embed="rId4">
            <a:alphaModFix/>
          </a:blip>
          <a:srcRect b="0" l="0" r="0" t="0"/>
          <a:stretch/>
        </p:blipFill>
        <p:spPr>
          <a:xfrm>
            <a:off x="2895425" y="4262625"/>
            <a:ext cx="1399901" cy="541300"/>
          </a:xfrm>
          <a:prstGeom prst="rect">
            <a:avLst/>
          </a:prstGeom>
          <a:noFill/>
          <a:ln>
            <a:noFill/>
          </a:ln>
        </p:spPr>
      </p:pic>
      <p:sp>
        <p:nvSpPr>
          <p:cNvPr id="222" name="Google Shape;222;p8"/>
          <p:cNvSpPr txBox="1"/>
          <p:nvPr/>
        </p:nvSpPr>
        <p:spPr>
          <a:xfrm>
            <a:off x="2376000" y="1939850"/>
            <a:ext cx="4392000" cy="877200"/>
          </a:xfrm>
          <a:prstGeom prst="rect">
            <a:avLst/>
          </a:prstGeom>
          <a:noFill/>
          <a:ln>
            <a:noFill/>
          </a:ln>
          <a:effectLst>
            <a:outerShdw blurRad="57150" rotWithShape="0" algn="bl" dir="5400000" dist="19050">
              <a:srgbClr val="000000">
                <a:alpha val="49019"/>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500"/>
              <a:buFont typeface="Arial"/>
              <a:buNone/>
            </a:pPr>
            <a:r>
              <a:rPr b="1" i="0" lang="en" sz="4500" u="none" cap="none" strike="noStrike">
                <a:solidFill>
                  <a:schemeClr val="lt1"/>
                </a:solidFill>
                <a:latin typeface="Rubik"/>
                <a:ea typeface="Rubik"/>
                <a:cs typeface="Rubik"/>
                <a:sym typeface="Rubik"/>
              </a:rPr>
              <a:t>Thank You</a:t>
            </a:r>
            <a:endParaRPr b="0" i="0" sz="2000" u="none" cap="none" strike="noStrike">
              <a:solidFill>
                <a:schemeClr val="lt1"/>
              </a:solidFill>
              <a:latin typeface="Rubik"/>
              <a:ea typeface="Rubik"/>
              <a:cs typeface="Rubik"/>
              <a:sym typeface="Rubik"/>
            </a:endParaRPr>
          </a:p>
        </p:txBody>
      </p:sp>
      <p:sp>
        <p:nvSpPr>
          <p:cNvPr id="223" name="Google Shape;223;p8"/>
          <p:cNvSpPr txBox="1"/>
          <p:nvPr/>
        </p:nvSpPr>
        <p:spPr>
          <a:xfrm>
            <a:off x="4314750" y="4248575"/>
            <a:ext cx="457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chemeClr val="lt1"/>
                </a:solidFill>
                <a:latin typeface="Rubik SemiBold"/>
                <a:ea typeface="Rubik SemiBold"/>
                <a:cs typeface="Rubik SemiBold"/>
                <a:sym typeface="Rubik SemiBold"/>
              </a:rPr>
              <a:t>X</a:t>
            </a:r>
            <a:endParaRPr b="0" i="0" sz="3000" u="none" cap="none" strike="noStrike">
              <a:solidFill>
                <a:schemeClr val="lt1"/>
              </a:solidFill>
              <a:latin typeface="Rubik SemiBold"/>
              <a:ea typeface="Rubik SemiBold"/>
              <a:cs typeface="Rubik SemiBold"/>
              <a:sym typeface="Rubik SemiBold"/>
            </a:endParaRPr>
          </a:p>
        </p:txBody>
      </p:sp>
      <p:pic>
        <p:nvPicPr>
          <p:cNvPr id="224" name="Google Shape;224;p8"/>
          <p:cNvPicPr preferRelativeResize="0"/>
          <p:nvPr/>
        </p:nvPicPr>
        <p:blipFill rotWithShape="1">
          <a:blip r:embed="rId5">
            <a:alphaModFix/>
          </a:blip>
          <a:srcRect b="0" l="0" r="0" t="0"/>
          <a:stretch/>
        </p:blipFill>
        <p:spPr>
          <a:xfrm>
            <a:off x="5053025" y="4210025"/>
            <a:ext cx="1507101" cy="5413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